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75" r:id="rId2"/>
    <p:sldId id="257" r:id="rId3"/>
    <p:sldId id="261" r:id="rId4"/>
    <p:sldId id="276" r:id="rId5"/>
    <p:sldId id="260" r:id="rId6"/>
    <p:sldId id="258" r:id="rId7"/>
    <p:sldId id="259" r:id="rId8"/>
    <p:sldId id="25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54"/>
    <p:restoredTop sz="94719"/>
  </p:normalViewPr>
  <p:slideViewPr>
    <p:cSldViewPr snapToGrid="0">
      <p:cViewPr>
        <p:scale>
          <a:sx n="122" d="100"/>
          <a:sy n="122" d="100"/>
        </p:scale>
        <p:origin x="-144" y="1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31901C-F0EE-0B45-A933-235DA50F4399}" type="datetimeFigureOut">
              <a:rPr lang="en-US" smtClean="0"/>
              <a:t>2/26/26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055EFB-7427-EE42-B25A-9893B9E4887F}" type="slidenum">
              <a:rPr lang="en-US" smtClean="0"/>
              <a:t>‹#›</a:t>
            </a:fld>
            <a:endParaRPr lang="en-US"/>
          </a:p>
        </p:txBody>
      </p:sp>
    </p:spTree>
    <p:extLst>
      <p:ext uri="{BB962C8B-B14F-4D97-AF65-F5344CB8AC3E}">
        <p14:creationId xmlns:p14="http://schemas.microsoft.com/office/powerpoint/2010/main" val="1363368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055EFB-7427-EE42-B25A-9893B9E4887F}" type="slidenum">
              <a:rPr lang="en-US" smtClean="0"/>
              <a:t>1</a:t>
            </a:fld>
            <a:endParaRPr lang="en-US"/>
          </a:p>
        </p:txBody>
      </p:sp>
    </p:spTree>
    <p:extLst>
      <p:ext uri="{BB962C8B-B14F-4D97-AF65-F5344CB8AC3E}">
        <p14:creationId xmlns:p14="http://schemas.microsoft.com/office/powerpoint/2010/main" val="1548997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055EFB-7427-EE42-B25A-9893B9E4887F}" type="slidenum">
              <a:rPr lang="en-US" smtClean="0"/>
              <a:t>2</a:t>
            </a:fld>
            <a:endParaRPr lang="en-US"/>
          </a:p>
        </p:txBody>
      </p:sp>
    </p:spTree>
    <p:extLst>
      <p:ext uri="{BB962C8B-B14F-4D97-AF65-F5344CB8AC3E}">
        <p14:creationId xmlns:p14="http://schemas.microsoft.com/office/powerpoint/2010/main" val="837907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1AE3BA-1914-1B48-A130-7509120AE135}" type="slidenum">
              <a:rPr lang="en-US" smtClean="0"/>
              <a:t>3</a:t>
            </a:fld>
            <a:endParaRPr lang="en-US"/>
          </a:p>
        </p:txBody>
      </p:sp>
    </p:spTree>
    <p:extLst>
      <p:ext uri="{BB962C8B-B14F-4D97-AF65-F5344CB8AC3E}">
        <p14:creationId xmlns:p14="http://schemas.microsoft.com/office/powerpoint/2010/main" val="1329945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055EFB-7427-EE42-B25A-9893B9E4887F}" type="slidenum">
              <a:rPr lang="en-US" smtClean="0"/>
              <a:t>4</a:t>
            </a:fld>
            <a:endParaRPr lang="en-US"/>
          </a:p>
        </p:txBody>
      </p:sp>
    </p:spTree>
    <p:extLst>
      <p:ext uri="{BB962C8B-B14F-4D97-AF65-F5344CB8AC3E}">
        <p14:creationId xmlns:p14="http://schemas.microsoft.com/office/powerpoint/2010/main" val="2211846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feel like the curves get cleaner in the later batches</a:t>
            </a:r>
          </a:p>
        </p:txBody>
      </p:sp>
      <p:sp>
        <p:nvSpPr>
          <p:cNvPr id="4" name="Slide Number Placeholder 3"/>
          <p:cNvSpPr>
            <a:spLocks noGrp="1"/>
          </p:cNvSpPr>
          <p:nvPr>
            <p:ph type="sldNum" sz="quarter" idx="5"/>
          </p:nvPr>
        </p:nvSpPr>
        <p:spPr/>
        <p:txBody>
          <a:bodyPr/>
          <a:lstStyle/>
          <a:p>
            <a:fld id="{F98D94FC-0B7D-4D4B-B7E2-D5DAD5B90F9F}" type="slidenum">
              <a:rPr lang="en-US" smtClean="0"/>
              <a:t>8</a:t>
            </a:fld>
            <a:endParaRPr lang="en-US"/>
          </a:p>
        </p:txBody>
      </p:sp>
    </p:spTree>
    <p:extLst>
      <p:ext uri="{BB962C8B-B14F-4D97-AF65-F5344CB8AC3E}">
        <p14:creationId xmlns:p14="http://schemas.microsoft.com/office/powerpoint/2010/main" val="2107437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631B-3507-580A-3028-E5CBA48A21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9DA4E-E582-053B-47C8-485D0DC6FC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A8198B-2281-ADDC-AD75-A1DB3D8E8A8B}"/>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5" name="Footer Placeholder 4">
            <a:extLst>
              <a:ext uri="{FF2B5EF4-FFF2-40B4-BE49-F238E27FC236}">
                <a16:creationId xmlns:a16="http://schemas.microsoft.com/office/drawing/2014/main" id="{AFCCF423-976B-256B-7E8A-C5D95A6D5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1506F8-2788-812D-0769-045277BF01D5}"/>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2336910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EE340-0972-D5C4-AB1E-C5C8995470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8C5AF7-5922-83DC-1AB9-A08123BD7C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A3458-12EE-E3FE-8F64-F1EA7FF4158E}"/>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5" name="Footer Placeholder 4">
            <a:extLst>
              <a:ext uri="{FF2B5EF4-FFF2-40B4-BE49-F238E27FC236}">
                <a16:creationId xmlns:a16="http://schemas.microsoft.com/office/drawing/2014/main" id="{4C59A1FC-83A9-C0E1-ACA4-DEFF11549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3CD39C-1DBF-2A3D-D3ED-2384E6A8E67B}"/>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441078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78676-C8A4-845E-6861-3073765030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52C764-5130-07C0-DC87-9FEC50D89C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7B8661-8DE1-C9F4-F665-7C0CC196E5E9}"/>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5" name="Footer Placeholder 4">
            <a:extLst>
              <a:ext uri="{FF2B5EF4-FFF2-40B4-BE49-F238E27FC236}">
                <a16:creationId xmlns:a16="http://schemas.microsoft.com/office/drawing/2014/main" id="{820B8E62-F119-90B9-E446-AC18A265A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F7616-F021-2A0D-210A-5E4C555AEF67}"/>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448609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2E321-2784-E28C-AFB9-F2EDFC0476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2FC7FA-EC1C-83F0-F63E-2565DCFBF3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A3853E-7F0F-18A6-3FA3-07E19FB9F7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C3A346-3724-CCB0-F97E-77FEA890888E}"/>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6" name="Footer Placeholder 5">
            <a:extLst>
              <a:ext uri="{FF2B5EF4-FFF2-40B4-BE49-F238E27FC236}">
                <a16:creationId xmlns:a16="http://schemas.microsoft.com/office/drawing/2014/main" id="{61B3EB6C-114B-76AF-402C-92483A2E0B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D13D87-E0E9-CC37-4DF8-EDF9DBB5E28C}"/>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173966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B528-9508-76F8-50CD-BFFBEBC9E7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627BC2-80C5-F579-8264-05D3D1589B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F13ED1-CA5C-69BB-5332-E3C3C68E1A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7B312F-02B3-0F65-425B-B3DD801EB0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A7489E-A0E8-A7D6-399F-9B78AF5E1A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6AF482-1EC2-487B-444A-A0301C6E1D2C}"/>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8" name="Footer Placeholder 7">
            <a:extLst>
              <a:ext uri="{FF2B5EF4-FFF2-40B4-BE49-F238E27FC236}">
                <a16:creationId xmlns:a16="http://schemas.microsoft.com/office/drawing/2014/main" id="{7C8CCC5A-BA67-FA1E-5E84-F5A468A66D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8E238C-D36B-15B3-F2C2-9AEEAD387357}"/>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2621879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60212-7B1C-4CB5-2C37-B11EB00E06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CDAAEB-BEB1-5973-0EC1-2C4FDBA4EF09}"/>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4" name="Footer Placeholder 3">
            <a:extLst>
              <a:ext uri="{FF2B5EF4-FFF2-40B4-BE49-F238E27FC236}">
                <a16:creationId xmlns:a16="http://schemas.microsoft.com/office/drawing/2014/main" id="{22BBA64E-F3BE-5744-21D6-2E6C823455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1CE58B-CEA6-3148-161C-CD0B6667BD65}"/>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1079673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454B16-D725-E45A-7C82-1C35CC01D312}"/>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3" name="Footer Placeholder 2">
            <a:extLst>
              <a:ext uri="{FF2B5EF4-FFF2-40B4-BE49-F238E27FC236}">
                <a16:creationId xmlns:a16="http://schemas.microsoft.com/office/drawing/2014/main" id="{564E852C-4D17-4E22-D6DE-9D109502CE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7186C7-82FF-5F1E-8D55-FD397A3C44EC}"/>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3847700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516C-23FE-D8ED-9089-B879F15273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D6694E-A4F9-FFB2-B180-800C332819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9AFBDA-B2DA-5BA8-AA3F-B2E1022F5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D52DFD-A26D-60EF-FFF7-AA2FBF99924A}"/>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6" name="Footer Placeholder 5">
            <a:extLst>
              <a:ext uri="{FF2B5EF4-FFF2-40B4-BE49-F238E27FC236}">
                <a16:creationId xmlns:a16="http://schemas.microsoft.com/office/drawing/2014/main" id="{BF9DE133-FA97-3F97-42A0-6D5B5C65F3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EA0B2-B67E-605C-B8C3-72FCFEE005A4}"/>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314866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6AC6D-7C3B-A4FB-0057-0032AE4DF9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850815-16D5-3A84-4992-B6D1561FC7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5AEA6A-33D5-FAE1-5273-14BD4D280F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900C76-A4E9-B54B-8411-6CAAD2839FA3}"/>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6" name="Footer Placeholder 5">
            <a:extLst>
              <a:ext uri="{FF2B5EF4-FFF2-40B4-BE49-F238E27FC236}">
                <a16:creationId xmlns:a16="http://schemas.microsoft.com/office/drawing/2014/main" id="{37535809-94EE-FA40-F57E-F973EA438F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13BF52-3C57-6DEA-42A9-BF97C377FF6C}"/>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845317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B186-F7C8-C73D-4783-1694E90A37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167E20-1124-2D6D-85A4-311B390B49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073FA-D866-45E1-0959-1D3B2D120554}"/>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5" name="Footer Placeholder 4">
            <a:extLst>
              <a:ext uri="{FF2B5EF4-FFF2-40B4-BE49-F238E27FC236}">
                <a16:creationId xmlns:a16="http://schemas.microsoft.com/office/drawing/2014/main" id="{519CE898-8E59-84E8-6255-6351AF7EB3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6C0337-5E96-192D-BD03-81248D296EB2}"/>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1977077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AAD932-44C0-DC51-C130-0CC8DDDC51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237CF8-1CC0-264C-48F5-741D321B52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C2726-3157-AE3D-2670-7A1F07EB22A9}"/>
              </a:ext>
            </a:extLst>
          </p:cNvPr>
          <p:cNvSpPr>
            <a:spLocks noGrp="1"/>
          </p:cNvSpPr>
          <p:nvPr>
            <p:ph type="dt" sz="half" idx="10"/>
          </p:nvPr>
        </p:nvSpPr>
        <p:spPr/>
        <p:txBody>
          <a:bodyPr/>
          <a:lstStyle/>
          <a:p>
            <a:fld id="{262BB45A-5D96-074B-84B9-26A3BC11C9E8}" type="datetimeFigureOut">
              <a:rPr lang="en-US" smtClean="0"/>
              <a:t>2/26/26</a:t>
            </a:fld>
            <a:endParaRPr lang="en-US"/>
          </a:p>
        </p:txBody>
      </p:sp>
      <p:sp>
        <p:nvSpPr>
          <p:cNvPr id="5" name="Footer Placeholder 4">
            <a:extLst>
              <a:ext uri="{FF2B5EF4-FFF2-40B4-BE49-F238E27FC236}">
                <a16:creationId xmlns:a16="http://schemas.microsoft.com/office/drawing/2014/main" id="{8BCBDD6F-060F-C0F9-97C5-53760BE23F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0B4F2-1AD7-7E15-6730-9B27C7F3F13B}"/>
              </a:ext>
            </a:extLst>
          </p:cNvPr>
          <p:cNvSpPr>
            <a:spLocks noGrp="1"/>
          </p:cNvSpPr>
          <p:nvPr>
            <p:ph type="sldNum" sz="quarter" idx="12"/>
          </p:nvPr>
        </p:nvSpPr>
        <p:spPr/>
        <p:txBody>
          <a:bodyPr/>
          <a:lstStyle/>
          <a:p>
            <a:fld id="{9214A96D-A8E2-7947-8982-82375C80503C}" type="slidenum">
              <a:rPr lang="en-US" smtClean="0"/>
              <a:t>‹#›</a:t>
            </a:fld>
            <a:endParaRPr lang="en-US"/>
          </a:p>
        </p:txBody>
      </p:sp>
    </p:spTree>
    <p:extLst>
      <p:ext uri="{BB962C8B-B14F-4D97-AF65-F5344CB8AC3E}">
        <p14:creationId xmlns:p14="http://schemas.microsoft.com/office/powerpoint/2010/main" val="2338231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A88D5D-CDB0-2A5A-C3DB-30B7593D23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45F83E-93C8-5F15-C0B5-801734AE50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35ABBF-F390-7DCD-41D7-F5BF21B418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2BB45A-5D96-074B-84B9-26A3BC11C9E8}" type="datetimeFigureOut">
              <a:rPr lang="en-US" smtClean="0"/>
              <a:t>2/26/26</a:t>
            </a:fld>
            <a:endParaRPr lang="en-US"/>
          </a:p>
        </p:txBody>
      </p:sp>
      <p:sp>
        <p:nvSpPr>
          <p:cNvPr id="5" name="Footer Placeholder 4">
            <a:extLst>
              <a:ext uri="{FF2B5EF4-FFF2-40B4-BE49-F238E27FC236}">
                <a16:creationId xmlns:a16="http://schemas.microsoft.com/office/drawing/2014/main" id="{77C3CE78-D7EA-1834-50D5-96AAD7BE7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35ED6A1-9010-2643-CE06-E25D0C0E4B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14A96D-A8E2-7947-8982-82375C80503C}" type="slidenum">
              <a:rPr lang="en-US" smtClean="0"/>
              <a:t>‹#›</a:t>
            </a:fld>
            <a:endParaRPr lang="en-US"/>
          </a:p>
        </p:txBody>
      </p:sp>
    </p:spTree>
    <p:extLst>
      <p:ext uri="{BB962C8B-B14F-4D97-AF65-F5344CB8AC3E}">
        <p14:creationId xmlns:p14="http://schemas.microsoft.com/office/powerpoint/2010/main" val="38963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dms-vep/RABV_Pasteur_G_DMS/tree/main/Additional_Data/PlasmidSequenc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oi.org/10.1128/jvi.00689-24" TargetMode="External"/><Relationship Id="rId5" Type="http://schemas.openxmlformats.org/officeDocument/2006/relationships/hyperlink" Target="https://doi.org/10.1016/j.chom.2025.04.018" TargetMode="External"/><Relationship Id="rId4" Type="http://schemas.openxmlformats.org/officeDocument/2006/relationships/hyperlink" Target="https://github.com/jbloomlab/neutcurv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FA441-4FAA-A310-5D83-BA88EAC5CA88}"/>
            </a:ext>
          </a:extLst>
        </p:cNvPr>
        <p:cNvGrpSpPr/>
        <p:nvPr/>
      </p:nvGrpSpPr>
      <p:grpSpPr>
        <a:xfrm>
          <a:off x="0" y="0"/>
          <a:ext cx="0" cy="0"/>
          <a:chOff x="0" y="0"/>
          <a:chExt cx="0" cy="0"/>
        </a:xfrm>
      </p:grpSpPr>
      <p:grpSp>
        <p:nvGrpSpPr>
          <p:cNvPr id="202" name="Group 201">
            <a:extLst>
              <a:ext uri="{FF2B5EF4-FFF2-40B4-BE49-F238E27FC236}">
                <a16:creationId xmlns:a16="http://schemas.microsoft.com/office/drawing/2014/main" id="{FFFB5927-089E-F0C3-8AA6-4E561951BC27}"/>
              </a:ext>
            </a:extLst>
          </p:cNvPr>
          <p:cNvGrpSpPr/>
          <p:nvPr/>
        </p:nvGrpSpPr>
        <p:grpSpPr>
          <a:xfrm>
            <a:off x="131894" y="5141634"/>
            <a:ext cx="4762007" cy="1154675"/>
            <a:chOff x="212865" y="849219"/>
            <a:chExt cx="4762007" cy="1154675"/>
          </a:xfrm>
        </p:grpSpPr>
        <p:sp>
          <p:nvSpPr>
            <p:cNvPr id="165" name="TextBox 164">
              <a:extLst>
                <a:ext uri="{FF2B5EF4-FFF2-40B4-BE49-F238E27FC236}">
                  <a16:creationId xmlns:a16="http://schemas.microsoft.com/office/drawing/2014/main" id="{2D9A2FCE-80B0-00F6-358C-E4F60F97CD3F}"/>
                </a:ext>
              </a:extLst>
            </p:cNvPr>
            <p:cNvSpPr txBox="1"/>
            <p:nvPr/>
          </p:nvSpPr>
          <p:spPr>
            <a:xfrm>
              <a:off x="518881" y="849219"/>
              <a:ext cx="4455991" cy="1154675"/>
            </a:xfrm>
            <a:prstGeom prst="rect">
              <a:avLst/>
            </a:prstGeom>
            <a:noFill/>
          </p:spPr>
          <p:txBody>
            <a:bodyPr wrap="square" rtlCol="0">
              <a:spAutoFit/>
            </a:bodyPr>
            <a:lstStyle/>
            <a:p>
              <a:pPr>
                <a:lnSpc>
                  <a:spcPct val="150000"/>
                </a:lnSpc>
              </a:pPr>
              <a:r>
                <a:rPr lang="en-US" sz="1600" dirty="0">
                  <a:latin typeface="Arial" panose="020B0604020202020204" pitchFamily="34" charset="0"/>
                  <a:cs typeface="Arial" panose="020B0604020202020204" pitchFamily="34" charset="0"/>
                </a:rPr>
                <a:t>Rabies vaccine administered</a:t>
              </a:r>
            </a:p>
            <a:p>
              <a:pPr>
                <a:lnSpc>
                  <a:spcPct val="150000"/>
                </a:lnSpc>
              </a:pPr>
              <a:r>
                <a:rPr lang="en-US" sz="1600" dirty="0">
                  <a:latin typeface="Arial" panose="020B0604020202020204" pitchFamily="34" charset="0"/>
                  <a:cs typeface="Arial" panose="020B0604020202020204" pitchFamily="34" charset="0"/>
                </a:rPr>
                <a:t>Rabies IG administered</a:t>
              </a:r>
            </a:p>
            <a:p>
              <a:pPr>
                <a:lnSpc>
                  <a:spcPct val="150000"/>
                </a:lnSpc>
              </a:pPr>
              <a:r>
                <a:rPr lang="en-US" sz="1600" dirty="0">
                  <a:latin typeface="Arial" panose="020B0604020202020204" pitchFamily="34" charset="0"/>
                  <a:cs typeface="Arial" panose="020B0604020202020204" pitchFamily="34" charset="0"/>
                </a:rPr>
                <a:t>Blood sample taken</a:t>
              </a:r>
            </a:p>
          </p:txBody>
        </p:sp>
        <p:sp>
          <p:nvSpPr>
            <p:cNvPr id="166" name="Triangle 165">
              <a:extLst>
                <a:ext uri="{FF2B5EF4-FFF2-40B4-BE49-F238E27FC236}">
                  <a16:creationId xmlns:a16="http://schemas.microsoft.com/office/drawing/2014/main" id="{8E518094-3D04-268E-EB21-28594E44302F}"/>
                </a:ext>
              </a:extLst>
            </p:cNvPr>
            <p:cNvSpPr/>
            <p:nvPr/>
          </p:nvSpPr>
          <p:spPr>
            <a:xfrm>
              <a:off x="212865" y="961596"/>
              <a:ext cx="227462" cy="2397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2268BD55-BCC3-3FB1-3680-6AB5C0AE2C35}"/>
                </a:ext>
              </a:extLst>
            </p:cNvPr>
            <p:cNvSpPr/>
            <p:nvPr/>
          </p:nvSpPr>
          <p:spPr>
            <a:xfrm>
              <a:off x="216210" y="1358676"/>
              <a:ext cx="230763" cy="24622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DFD2532E-A657-9C9B-538C-87F9F64422CE}"/>
                </a:ext>
              </a:extLst>
            </p:cNvPr>
            <p:cNvSpPr/>
            <p:nvPr/>
          </p:nvSpPr>
          <p:spPr>
            <a:xfrm>
              <a:off x="279667" y="1771135"/>
              <a:ext cx="93857" cy="16764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 name="Group 198">
            <a:extLst>
              <a:ext uri="{FF2B5EF4-FFF2-40B4-BE49-F238E27FC236}">
                <a16:creationId xmlns:a16="http://schemas.microsoft.com/office/drawing/2014/main" id="{9569AC46-F33E-F591-361F-39F89D8AD20B}"/>
              </a:ext>
            </a:extLst>
          </p:cNvPr>
          <p:cNvGrpSpPr/>
          <p:nvPr/>
        </p:nvGrpSpPr>
        <p:grpSpPr>
          <a:xfrm>
            <a:off x="101565" y="1139028"/>
            <a:ext cx="7804007" cy="3508787"/>
            <a:chOff x="618991" y="1636015"/>
            <a:chExt cx="7804007" cy="3508787"/>
          </a:xfrm>
        </p:grpSpPr>
        <p:grpSp>
          <p:nvGrpSpPr>
            <p:cNvPr id="164" name="Group 163">
              <a:extLst>
                <a:ext uri="{FF2B5EF4-FFF2-40B4-BE49-F238E27FC236}">
                  <a16:creationId xmlns:a16="http://schemas.microsoft.com/office/drawing/2014/main" id="{1AFC07E0-BE5E-1091-B29F-01D0DAF1632A}"/>
                </a:ext>
              </a:extLst>
            </p:cNvPr>
            <p:cNvGrpSpPr/>
            <p:nvPr/>
          </p:nvGrpSpPr>
          <p:grpSpPr>
            <a:xfrm>
              <a:off x="618991" y="1636015"/>
              <a:ext cx="7804007" cy="3508787"/>
              <a:chOff x="181655" y="1536279"/>
              <a:chExt cx="8600071" cy="3508787"/>
            </a:xfrm>
          </p:grpSpPr>
          <p:sp>
            <p:nvSpPr>
              <p:cNvPr id="140" name="Rectangle 38">
                <a:extLst>
                  <a:ext uri="{FF2B5EF4-FFF2-40B4-BE49-F238E27FC236}">
                    <a16:creationId xmlns:a16="http://schemas.microsoft.com/office/drawing/2014/main" id="{BCEE31B7-19D8-7D71-20AE-5D4807894584}"/>
                  </a:ext>
                </a:extLst>
              </p:cNvPr>
              <p:cNvSpPr>
                <a:spLocks noChangeArrowheads="1"/>
              </p:cNvSpPr>
              <p:nvPr/>
            </p:nvSpPr>
            <p:spPr bwMode="auto">
              <a:xfrm>
                <a:off x="209035" y="2863827"/>
                <a:ext cx="18636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strike="noStrike" cap="none" normalizeH="0" baseline="0" dirty="0">
                    <a:ln>
                      <a:noFill/>
                    </a:ln>
                    <a:solidFill>
                      <a:srgbClr val="000000"/>
                    </a:solidFill>
                    <a:effectLst/>
                    <a:latin typeface="Arial" panose="020B0604020202020204" pitchFamily="34" charset="0"/>
                  </a:rPr>
                  <a:t>Cohort 1 (no RIG)</a:t>
                </a:r>
                <a:endParaRPr kumimoji="0" lang="en-US" altLang="en-US" sz="1600" b="0" i="0" strike="noStrike" cap="none" normalizeH="0" baseline="0" dirty="0">
                  <a:ln>
                    <a:noFill/>
                  </a:ln>
                  <a:solidFill>
                    <a:schemeClr val="tx1"/>
                  </a:solidFill>
                  <a:effectLst/>
                  <a:latin typeface="Arial" panose="020B0604020202020204" pitchFamily="34" charset="0"/>
                </a:endParaRPr>
              </a:p>
            </p:txBody>
          </p:sp>
          <p:sp>
            <p:nvSpPr>
              <p:cNvPr id="141" name="Rectangle 39">
                <a:extLst>
                  <a:ext uri="{FF2B5EF4-FFF2-40B4-BE49-F238E27FC236}">
                    <a16:creationId xmlns:a16="http://schemas.microsoft.com/office/drawing/2014/main" id="{4BC9C48A-DD91-82FA-C000-491D589A0CDA}"/>
                  </a:ext>
                </a:extLst>
              </p:cNvPr>
              <p:cNvSpPr>
                <a:spLocks noChangeArrowheads="1"/>
              </p:cNvSpPr>
              <p:nvPr/>
            </p:nvSpPr>
            <p:spPr bwMode="auto">
              <a:xfrm>
                <a:off x="209035" y="3491086"/>
                <a:ext cx="16334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strike="noStrike" cap="none" normalizeH="0" baseline="0" dirty="0">
                    <a:ln>
                      <a:noFill/>
                    </a:ln>
                    <a:solidFill>
                      <a:srgbClr val="000000"/>
                    </a:solidFill>
                    <a:effectLst/>
                    <a:latin typeface="Arial" panose="020B0604020202020204" pitchFamily="34" charset="0"/>
                  </a:rPr>
                  <a:t>Cohort 2 (RIG d0)</a:t>
                </a:r>
                <a:endParaRPr kumimoji="0" lang="en-US" altLang="en-US" sz="1600" b="0" i="0" strike="noStrike" cap="none" normalizeH="0" baseline="0" dirty="0">
                  <a:ln>
                    <a:noFill/>
                  </a:ln>
                  <a:solidFill>
                    <a:schemeClr val="tx1"/>
                  </a:solidFill>
                  <a:effectLst/>
                  <a:latin typeface="Arial" panose="020B0604020202020204" pitchFamily="34" charset="0"/>
                </a:endParaRPr>
              </a:p>
            </p:txBody>
          </p:sp>
          <p:sp>
            <p:nvSpPr>
              <p:cNvPr id="142" name="Rectangle 40">
                <a:extLst>
                  <a:ext uri="{FF2B5EF4-FFF2-40B4-BE49-F238E27FC236}">
                    <a16:creationId xmlns:a16="http://schemas.microsoft.com/office/drawing/2014/main" id="{3B8E6C32-9FEA-E986-B45A-4819C1AFE6FB}"/>
                  </a:ext>
                </a:extLst>
              </p:cNvPr>
              <p:cNvSpPr>
                <a:spLocks noChangeArrowheads="1"/>
              </p:cNvSpPr>
              <p:nvPr/>
            </p:nvSpPr>
            <p:spPr bwMode="auto">
              <a:xfrm>
                <a:off x="209812" y="4119657"/>
                <a:ext cx="178093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strike="noStrike" cap="none" normalizeH="0" baseline="0" dirty="0">
                    <a:ln>
                      <a:noFill/>
                    </a:ln>
                    <a:solidFill>
                      <a:srgbClr val="000000"/>
                    </a:solidFill>
                    <a:effectLst/>
                    <a:latin typeface="Arial" panose="020B0604020202020204" pitchFamily="34" charset="0"/>
                  </a:rPr>
                  <a:t>Cohort 3 (RIG D28)</a:t>
                </a:r>
                <a:endParaRPr kumimoji="0" lang="en-US" altLang="en-US" sz="1600" b="0" i="0" strike="noStrike" cap="none" normalizeH="0" baseline="0" dirty="0">
                  <a:ln>
                    <a:noFill/>
                  </a:ln>
                  <a:solidFill>
                    <a:schemeClr val="tx1"/>
                  </a:solidFill>
                  <a:effectLst/>
                  <a:latin typeface="Arial" panose="020B0604020202020204" pitchFamily="34" charset="0"/>
                </a:endParaRPr>
              </a:p>
            </p:txBody>
          </p:sp>
          <p:grpSp>
            <p:nvGrpSpPr>
              <p:cNvPr id="31" name="Group 30">
                <a:extLst>
                  <a:ext uri="{FF2B5EF4-FFF2-40B4-BE49-F238E27FC236}">
                    <a16:creationId xmlns:a16="http://schemas.microsoft.com/office/drawing/2014/main" id="{21103BDC-C540-42AD-D11B-8BAF201EC6E5}"/>
                  </a:ext>
                </a:extLst>
              </p:cNvPr>
              <p:cNvGrpSpPr/>
              <p:nvPr/>
            </p:nvGrpSpPr>
            <p:grpSpPr>
              <a:xfrm>
                <a:off x="2554574" y="1536279"/>
                <a:ext cx="6056259" cy="1309607"/>
                <a:chOff x="3439417" y="1643215"/>
                <a:chExt cx="3901048" cy="1309607"/>
              </a:xfrm>
            </p:grpSpPr>
            <p:sp>
              <p:nvSpPr>
                <p:cNvPr id="4" name="Rectangle 5">
                  <a:extLst>
                    <a:ext uri="{FF2B5EF4-FFF2-40B4-BE49-F238E27FC236}">
                      <a16:creationId xmlns:a16="http://schemas.microsoft.com/office/drawing/2014/main" id="{6C3018DF-711E-3E52-16AC-BEB1F915B22F}"/>
                    </a:ext>
                  </a:extLst>
                </p:cNvPr>
                <p:cNvSpPr>
                  <a:spLocks noChangeArrowheads="1"/>
                </p:cNvSpPr>
                <p:nvPr/>
              </p:nvSpPr>
              <p:spPr bwMode="auto">
                <a:xfrm>
                  <a:off x="4354571" y="1643215"/>
                  <a:ext cx="209255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solidFill>
                        <a:srgbClr val="000000"/>
                      </a:solidFill>
                    </a:rPr>
                    <a:t>Days</a:t>
                  </a:r>
                  <a:r>
                    <a:rPr kumimoji="0" lang="en-US" altLang="en-US" sz="2000" b="1" i="0" strike="noStrike" cap="none" normalizeH="0" baseline="0" dirty="0">
                      <a:ln>
                        <a:noFill/>
                      </a:ln>
                      <a:solidFill>
                        <a:srgbClr val="000000"/>
                      </a:solidFill>
                      <a:effectLst/>
                    </a:rPr>
                    <a:t> post immunization</a:t>
                  </a:r>
                  <a:endParaRPr kumimoji="0" lang="en-US" altLang="en-US" sz="2000" b="1" i="0" strike="noStrike" cap="none" normalizeH="0" baseline="0" dirty="0">
                    <a:ln>
                      <a:noFill/>
                    </a:ln>
                    <a:solidFill>
                      <a:schemeClr val="tx1"/>
                    </a:solidFill>
                    <a:effectLst/>
                  </a:endParaRPr>
                </a:p>
              </p:txBody>
            </p:sp>
            <p:sp>
              <p:nvSpPr>
                <p:cNvPr id="5" name="Rectangle 8">
                  <a:extLst>
                    <a:ext uri="{FF2B5EF4-FFF2-40B4-BE49-F238E27FC236}">
                      <a16:creationId xmlns:a16="http://schemas.microsoft.com/office/drawing/2014/main" id="{85FAEB91-8E52-BABB-2D98-EC38DA34BF11}"/>
                    </a:ext>
                  </a:extLst>
                </p:cNvPr>
                <p:cNvSpPr>
                  <a:spLocks noChangeArrowheads="1"/>
                </p:cNvSpPr>
                <p:nvPr/>
              </p:nvSpPr>
              <p:spPr bwMode="auto">
                <a:xfrm>
                  <a:off x="3439417" y="2036956"/>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solidFill>
                        <a:srgbClr val="000000"/>
                      </a:solidFill>
                      <a:effectLst/>
                      <a:latin typeface="Arial" panose="020B0604020202020204" pitchFamily="34" charset="0"/>
                    </a:rPr>
                    <a:t>0</a:t>
                  </a:r>
                  <a:endParaRPr kumimoji="0" lang="en-US" altLang="en-US" sz="6600" b="0" i="0" strike="noStrike" cap="none" normalizeH="0" baseline="0" dirty="0">
                    <a:ln>
                      <a:noFill/>
                    </a:ln>
                    <a:solidFill>
                      <a:schemeClr val="tx1"/>
                    </a:solidFill>
                    <a:effectLst/>
                    <a:latin typeface="Arial" panose="020B0604020202020204" pitchFamily="34" charset="0"/>
                  </a:endParaRPr>
                </a:p>
              </p:txBody>
            </p:sp>
            <p:sp>
              <p:nvSpPr>
                <p:cNvPr id="6" name="Rectangle 9">
                  <a:extLst>
                    <a:ext uri="{FF2B5EF4-FFF2-40B4-BE49-F238E27FC236}">
                      <a16:creationId xmlns:a16="http://schemas.microsoft.com/office/drawing/2014/main" id="{746D75DE-3B77-9970-1BB5-67B086643005}"/>
                    </a:ext>
                  </a:extLst>
                </p:cNvPr>
                <p:cNvSpPr>
                  <a:spLocks noChangeArrowheads="1"/>
                </p:cNvSpPr>
                <p:nvPr/>
              </p:nvSpPr>
              <p:spPr bwMode="auto">
                <a:xfrm>
                  <a:off x="3847357" y="2044129"/>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solidFill>
                        <a:schemeClr val="tx1"/>
                      </a:solidFill>
                      <a:effectLst/>
                      <a:latin typeface="Arial" panose="020B0604020202020204" pitchFamily="34" charset="0"/>
                    </a:rPr>
                    <a:t>8</a:t>
                  </a:r>
                </a:p>
              </p:txBody>
            </p:sp>
            <p:sp>
              <p:nvSpPr>
                <p:cNvPr id="7" name="Rectangle 10">
                  <a:extLst>
                    <a:ext uri="{FF2B5EF4-FFF2-40B4-BE49-F238E27FC236}">
                      <a16:creationId xmlns:a16="http://schemas.microsoft.com/office/drawing/2014/main" id="{EDC3F083-B96F-BAC6-7CE8-027AC3CB0783}"/>
                    </a:ext>
                  </a:extLst>
                </p:cNvPr>
                <p:cNvSpPr>
                  <a:spLocks noChangeArrowheads="1"/>
                </p:cNvSpPr>
                <p:nvPr/>
              </p:nvSpPr>
              <p:spPr bwMode="auto">
                <a:xfrm>
                  <a:off x="4167342" y="2036956"/>
                  <a:ext cx="256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solidFill>
                        <a:srgbClr val="000000"/>
                      </a:solidFill>
                      <a:effectLst/>
                      <a:latin typeface="Arial" panose="020B0604020202020204" pitchFamily="34" charset="0"/>
                    </a:rPr>
                    <a:t>15</a:t>
                  </a:r>
                  <a:endParaRPr kumimoji="0" lang="en-US" altLang="en-US" sz="6600" b="0" i="0" strike="noStrike" cap="none" normalizeH="0" baseline="0" dirty="0">
                    <a:ln>
                      <a:noFill/>
                    </a:ln>
                    <a:solidFill>
                      <a:schemeClr val="tx1"/>
                    </a:solidFill>
                    <a:effectLst/>
                    <a:latin typeface="Arial" panose="020B0604020202020204" pitchFamily="34" charset="0"/>
                  </a:endParaRPr>
                </a:p>
              </p:txBody>
            </p:sp>
            <p:sp>
              <p:nvSpPr>
                <p:cNvPr id="8" name="Rectangle 11">
                  <a:extLst>
                    <a:ext uri="{FF2B5EF4-FFF2-40B4-BE49-F238E27FC236}">
                      <a16:creationId xmlns:a16="http://schemas.microsoft.com/office/drawing/2014/main" id="{EE6B5877-7F73-AF60-10C0-DB07782038D0}"/>
                    </a:ext>
                  </a:extLst>
                </p:cNvPr>
                <p:cNvSpPr>
                  <a:spLocks noChangeArrowheads="1"/>
                </p:cNvSpPr>
                <p:nvPr/>
              </p:nvSpPr>
              <p:spPr bwMode="auto">
                <a:xfrm>
                  <a:off x="4792009" y="2044129"/>
                  <a:ext cx="256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solidFill>
                        <a:srgbClr val="000000"/>
                      </a:solidFill>
                      <a:effectLst/>
                      <a:latin typeface="Arial" panose="020B0604020202020204" pitchFamily="34" charset="0"/>
                    </a:rPr>
                    <a:t>29</a:t>
                  </a:r>
                  <a:endParaRPr kumimoji="0" lang="en-US" altLang="en-US" sz="6600" b="0" i="0" strike="noStrike" cap="none" normalizeH="0" baseline="0" dirty="0">
                    <a:ln>
                      <a:noFill/>
                    </a:ln>
                    <a:solidFill>
                      <a:schemeClr val="tx1"/>
                    </a:solidFill>
                    <a:effectLst/>
                    <a:latin typeface="Arial" panose="020B0604020202020204" pitchFamily="34" charset="0"/>
                  </a:endParaRPr>
                </a:p>
              </p:txBody>
            </p:sp>
            <p:sp>
              <p:nvSpPr>
                <p:cNvPr id="9" name="Rectangle 12">
                  <a:extLst>
                    <a:ext uri="{FF2B5EF4-FFF2-40B4-BE49-F238E27FC236}">
                      <a16:creationId xmlns:a16="http://schemas.microsoft.com/office/drawing/2014/main" id="{E2D6775E-1F28-1A7F-1B57-44112BC02080}"/>
                    </a:ext>
                  </a:extLst>
                </p:cNvPr>
                <p:cNvSpPr>
                  <a:spLocks noChangeArrowheads="1"/>
                </p:cNvSpPr>
                <p:nvPr/>
              </p:nvSpPr>
              <p:spPr bwMode="auto">
                <a:xfrm>
                  <a:off x="5900454" y="2074296"/>
                  <a:ext cx="256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solidFill>
                        <a:srgbClr val="000000"/>
                      </a:solidFill>
                      <a:effectLst/>
                      <a:latin typeface="Arial" panose="020B0604020202020204" pitchFamily="34" charset="0"/>
                    </a:rPr>
                    <a:t>85</a:t>
                  </a:r>
                  <a:endParaRPr kumimoji="0" lang="en-US" altLang="en-US" sz="6600" b="0" i="0" strike="noStrike" cap="none" normalizeH="0" baseline="0" dirty="0">
                    <a:ln>
                      <a:noFill/>
                    </a:ln>
                    <a:solidFill>
                      <a:schemeClr val="tx1"/>
                    </a:solidFill>
                    <a:effectLst/>
                    <a:latin typeface="Arial" panose="020B0604020202020204" pitchFamily="34" charset="0"/>
                  </a:endParaRPr>
                </a:p>
              </p:txBody>
            </p:sp>
            <p:sp>
              <p:nvSpPr>
                <p:cNvPr id="10" name="Rectangle 13">
                  <a:extLst>
                    <a:ext uri="{FF2B5EF4-FFF2-40B4-BE49-F238E27FC236}">
                      <a16:creationId xmlns:a16="http://schemas.microsoft.com/office/drawing/2014/main" id="{EC9B426D-31EA-16B3-1C36-573A9CE08ED8}"/>
                    </a:ext>
                  </a:extLst>
                </p:cNvPr>
                <p:cNvSpPr>
                  <a:spLocks noChangeArrowheads="1"/>
                </p:cNvSpPr>
                <p:nvPr/>
              </p:nvSpPr>
              <p:spPr bwMode="auto">
                <a:xfrm>
                  <a:off x="5467309" y="2074296"/>
                  <a:ext cx="256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rPr>
                    <a:t>57</a:t>
                  </a:r>
                  <a:endParaRPr kumimoji="0" lang="en-US" altLang="en-US" b="0" i="0" strike="noStrike" cap="none" normalizeH="0" baseline="0" dirty="0">
                    <a:ln>
                      <a:noFill/>
                    </a:ln>
                    <a:solidFill>
                      <a:schemeClr val="tx1"/>
                    </a:solidFill>
                    <a:effectLst/>
                    <a:latin typeface="Arial" panose="020B0604020202020204" pitchFamily="34" charset="0"/>
                  </a:endParaRPr>
                </a:p>
              </p:txBody>
            </p:sp>
            <p:sp>
              <p:nvSpPr>
                <p:cNvPr id="11" name="Rectangle 14">
                  <a:extLst>
                    <a:ext uri="{FF2B5EF4-FFF2-40B4-BE49-F238E27FC236}">
                      <a16:creationId xmlns:a16="http://schemas.microsoft.com/office/drawing/2014/main" id="{752507DF-D07E-8A53-BD28-A8045FCCDBD3}"/>
                    </a:ext>
                  </a:extLst>
                </p:cNvPr>
                <p:cNvSpPr>
                  <a:spLocks noChangeArrowheads="1"/>
                </p:cNvSpPr>
                <p:nvPr/>
              </p:nvSpPr>
              <p:spPr bwMode="auto">
                <a:xfrm>
                  <a:off x="6280443" y="2067550"/>
                  <a:ext cx="38472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solidFill>
                        <a:srgbClr val="000000"/>
                      </a:solidFill>
                      <a:effectLst/>
                      <a:latin typeface="Arial" panose="020B0604020202020204" pitchFamily="34" charset="0"/>
                    </a:rPr>
                    <a:t>181</a:t>
                  </a:r>
                  <a:endParaRPr kumimoji="0" lang="en-US" altLang="en-US" sz="6600" b="0" i="0" strike="noStrike" cap="none" normalizeH="0" baseline="0" dirty="0">
                    <a:ln>
                      <a:noFill/>
                    </a:ln>
                    <a:solidFill>
                      <a:schemeClr val="tx1"/>
                    </a:solidFill>
                    <a:effectLst/>
                    <a:latin typeface="Arial" panose="020B0604020202020204" pitchFamily="34" charset="0"/>
                  </a:endParaRPr>
                </a:p>
              </p:txBody>
            </p:sp>
            <p:sp>
              <p:nvSpPr>
                <p:cNvPr id="12" name="Rectangle 15">
                  <a:extLst>
                    <a:ext uri="{FF2B5EF4-FFF2-40B4-BE49-F238E27FC236}">
                      <a16:creationId xmlns:a16="http://schemas.microsoft.com/office/drawing/2014/main" id="{4E950E2C-CCD0-7AE8-B8D3-178FFD8A29F0}"/>
                    </a:ext>
                  </a:extLst>
                </p:cNvPr>
                <p:cNvSpPr>
                  <a:spLocks noChangeArrowheads="1"/>
                </p:cNvSpPr>
                <p:nvPr/>
              </p:nvSpPr>
              <p:spPr bwMode="auto">
                <a:xfrm>
                  <a:off x="6955743" y="2082475"/>
                  <a:ext cx="38472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solidFill>
                        <a:srgbClr val="000000"/>
                      </a:solidFill>
                      <a:effectLst/>
                      <a:latin typeface="Arial" panose="020B0604020202020204" pitchFamily="34" charset="0"/>
                    </a:rPr>
                    <a:t>366</a:t>
                  </a:r>
                  <a:endParaRPr kumimoji="0" lang="en-US" altLang="en-US" sz="6600" b="0" i="0" strike="noStrike" cap="none" normalizeH="0" baseline="0" dirty="0">
                    <a:ln>
                      <a:noFill/>
                    </a:ln>
                    <a:solidFill>
                      <a:schemeClr val="tx1"/>
                    </a:solidFill>
                    <a:effectLst/>
                    <a:latin typeface="Arial" panose="020B0604020202020204" pitchFamily="34" charset="0"/>
                  </a:endParaRPr>
                </a:p>
              </p:txBody>
            </p:sp>
            <p:sp>
              <p:nvSpPr>
                <p:cNvPr id="13" name="Line 41">
                  <a:extLst>
                    <a:ext uri="{FF2B5EF4-FFF2-40B4-BE49-F238E27FC236}">
                      <a16:creationId xmlns:a16="http://schemas.microsoft.com/office/drawing/2014/main" id="{D6AA2A87-7C54-EB20-89F8-5B3F0BF6AB10}"/>
                    </a:ext>
                  </a:extLst>
                </p:cNvPr>
                <p:cNvSpPr>
                  <a:spLocks noChangeShapeType="1"/>
                </p:cNvSpPr>
                <p:nvPr/>
              </p:nvSpPr>
              <p:spPr bwMode="auto">
                <a:xfrm>
                  <a:off x="6472804" y="2372678"/>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42">
                  <a:extLst>
                    <a:ext uri="{FF2B5EF4-FFF2-40B4-BE49-F238E27FC236}">
                      <a16:creationId xmlns:a16="http://schemas.microsoft.com/office/drawing/2014/main" id="{60810468-313C-8701-3D6E-FFEB08242840}"/>
                    </a:ext>
                  </a:extLst>
                </p:cNvPr>
                <p:cNvSpPr>
                  <a:spLocks noChangeShapeType="1"/>
                </p:cNvSpPr>
                <p:nvPr/>
              </p:nvSpPr>
              <p:spPr bwMode="auto">
                <a:xfrm>
                  <a:off x="3497188" y="2376579"/>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43">
                  <a:extLst>
                    <a:ext uri="{FF2B5EF4-FFF2-40B4-BE49-F238E27FC236}">
                      <a16:creationId xmlns:a16="http://schemas.microsoft.com/office/drawing/2014/main" id="{6288F69D-3E91-2206-2FA6-9B0AD2A19893}"/>
                    </a:ext>
                  </a:extLst>
                </p:cNvPr>
                <p:cNvSpPr>
                  <a:spLocks noChangeShapeType="1"/>
                </p:cNvSpPr>
                <p:nvPr/>
              </p:nvSpPr>
              <p:spPr bwMode="auto">
                <a:xfrm>
                  <a:off x="3909179" y="2384701"/>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Line 44">
                  <a:extLst>
                    <a:ext uri="{FF2B5EF4-FFF2-40B4-BE49-F238E27FC236}">
                      <a16:creationId xmlns:a16="http://schemas.microsoft.com/office/drawing/2014/main" id="{2E8EA0A2-878D-991A-5C43-B492E2DB7D54}"/>
                    </a:ext>
                  </a:extLst>
                </p:cNvPr>
                <p:cNvSpPr>
                  <a:spLocks noChangeShapeType="1"/>
                </p:cNvSpPr>
                <p:nvPr/>
              </p:nvSpPr>
              <p:spPr bwMode="auto">
                <a:xfrm>
                  <a:off x="4295582" y="2376579"/>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Line 45">
                  <a:extLst>
                    <a:ext uri="{FF2B5EF4-FFF2-40B4-BE49-F238E27FC236}">
                      <a16:creationId xmlns:a16="http://schemas.microsoft.com/office/drawing/2014/main" id="{0D88890F-3F5F-F82E-7CA6-73EF45ABDF14}"/>
                    </a:ext>
                  </a:extLst>
                </p:cNvPr>
                <p:cNvSpPr>
                  <a:spLocks noChangeShapeType="1"/>
                </p:cNvSpPr>
                <p:nvPr/>
              </p:nvSpPr>
              <p:spPr bwMode="auto">
                <a:xfrm>
                  <a:off x="4923568" y="2376579"/>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Line 46">
                  <a:extLst>
                    <a:ext uri="{FF2B5EF4-FFF2-40B4-BE49-F238E27FC236}">
                      <a16:creationId xmlns:a16="http://schemas.microsoft.com/office/drawing/2014/main" id="{3D334783-A74E-AF6D-3C67-EBF851D3C64A}"/>
                    </a:ext>
                  </a:extLst>
                </p:cNvPr>
                <p:cNvSpPr>
                  <a:spLocks noChangeShapeType="1"/>
                </p:cNvSpPr>
                <p:nvPr/>
              </p:nvSpPr>
              <p:spPr bwMode="auto">
                <a:xfrm>
                  <a:off x="6034254" y="2376579"/>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49">
                  <a:extLst>
                    <a:ext uri="{FF2B5EF4-FFF2-40B4-BE49-F238E27FC236}">
                      <a16:creationId xmlns:a16="http://schemas.microsoft.com/office/drawing/2014/main" id="{897F3A2A-BA00-7232-B865-532797B7EF62}"/>
                    </a:ext>
                  </a:extLst>
                </p:cNvPr>
                <p:cNvSpPr>
                  <a:spLocks noChangeShapeType="1"/>
                </p:cNvSpPr>
                <p:nvPr/>
              </p:nvSpPr>
              <p:spPr bwMode="auto">
                <a:xfrm flipH="1">
                  <a:off x="5128173" y="2474577"/>
                  <a:ext cx="284175" cy="478245"/>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50">
                  <a:extLst>
                    <a:ext uri="{FF2B5EF4-FFF2-40B4-BE49-F238E27FC236}">
                      <a16:creationId xmlns:a16="http://schemas.microsoft.com/office/drawing/2014/main" id="{6195E198-B91E-22A1-881B-DBE5CCD316F3}"/>
                    </a:ext>
                  </a:extLst>
                </p:cNvPr>
                <p:cNvSpPr>
                  <a:spLocks noChangeShapeType="1"/>
                </p:cNvSpPr>
                <p:nvPr/>
              </p:nvSpPr>
              <p:spPr bwMode="auto">
                <a:xfrm flipH="1">
                  <a:off x="4946536" y="2456478"/>
                  <a:ext cx="284175" cy="478245"/>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51">
                  <a:extLst>
                    <a:ext uri="{FF2B5EF4-FFF2-40B4-BE49-F238E27FC236}">
                      <a16:creationId xmlns:a16="http://schemas.microsoft.com/office/drawing/2014/main" id="{8DC9C7CF-3F9A-2A4E-C6C5-F4882025E151}"/>
                    </a:ext>
                  </a:extLst>
                </p:cNvPr>
                <p:cNvSpPr>
                  <a:spLocks noChangeShapeType="1"/>
                </p:cNvSpPr>
                <p:nvPr/>
              </p:nvSpPr>
              <p:spPr bwMode="auto">
                <a:xfrm>
                  <a:off x="5583734" y="2384701"/>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52">
                  <a:extLst>
                    <a:ext uri="{FF2B5EF4-FFF2-40B4-BE49-F238E27FC236}">
                      <a16:creationId xmlns:a16="http://schemas.microsoft.com/office/drawing/2014/main" id="{8705AE93-5900-01AB-7F24-5B974C395A1D}"/>
                    </a:ext>
                  </a:extLst>
                </p:cNvPr>
                <p:cNvSpPr>
                  <a:spLocks noChangeShapeType="1"/>
                </p:cNvSpPr>
                <p:nvPr/>
              </p:nvSpPr>
              <p:spPr bwMode="auto">
                <a:xfrm>
                  <a:off x="7151707" y="2384396"/>
                  <a:ext cx="0" cy="367348"/>
                </a:xfrm>
                <a:prstGeom prst="line">
                  <a:avLst/>
                </a:prstGeom>
                <a:noFill/>
                <a:ln w="63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5" name="Oval 64">
                <a:extLst>
                  <a:ext uri="{FF2B5EF4-FFF2-40B4-BE49-F238E27FC236}">
                    <a16:creationId xmlns:a16="http://schemas.microsoft.com/office/drawing/2014/main" id="{B5DC6596-1869-9A3D-3048-69B45E566A70}"/>
                  </a:ext>
                </a:extLst>
              </p:cNvPr>
              <p:cNvSpPr/>
              <p:nvPr/>
            </p:nvSpPr>
            <p:spPr>
              <a:xfrm>
                <a:off x="4706754" y="4159382"/>
                <a:ext cx="254302" cy="24622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riangle 86">
                <a:extLst>
                  <a:ext uri="{FF2B5EF4-FFF2-40B4-BE49-F238E27FC236}">
                    <a16:creationId xmlns:a16="http://schemas.microsoft.com/office/drawing/2014/main" id="{92B2FB51-1D21-D0C9-E71C-D765C8F5CF45}"/>
                  </a:ext>
                </a:extLst>
              </p:cNvPr>
              <p:cNvSpPr/>
              <p:nvPr/>
            </p:nvSpPr>
            <p:spPr>
              <a:xfrm>
                <a:off x="2494809" y="2858626"/>
                <a:ext cx="250665" cy="2397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a16="http://schemas.microsoft.com/office/drawing/2014/main" id="{ADD1754A-84FC-091B-A553-FFB13006C68C}"/>
                  </a:ext>
                </a:extLst>
              </p:cNvPr>
              <p:cNvGrpSpPr/>
              <p:nvPr/>
            </p:nvGrpSpPr>
            <p:grpSpPr>
              <a:xfrm>
                <a:off x="2568425" y="4842431"/>
                <a:ext cx="5719651" cy="186749"/>
                <a:chOff x="3339704" y="5145342"/>
                <a:chExt cx="5727332" cy="161515"/>
              </a:xfrm>
            </p:grpSpPr>
            <p:grpSp>
              <p:nvGrpSpPr>
                <p:cNvPr id="72" name="Group 71">
                  <a:extLst>
                    <a:ext uri="{FF2B5EF4-FFF2-40B4-BE49-F238E27FC236}">
                      <a16:creationId xmlns:a16="http://schemas.microsoft.com/office/drawing/2014/main" id="{4EA20F09-3028-F305-EEC7-4DD281BD31A3}"/>
                    </a:ext>
                  </a:extLst>
                </p:cNvPr>
                <p:cNvGrpSpPr/>
                <p:nvPr/>
              </p:nvGrpSpPr>
              <p:grpSpPr>
                <a:xfrm>
                  <a:off x="4572472" y="5145342"/>
                  <a:ext cx="4494564" cy="161515"/>
                  <a:chOff x="4616525" y="4571010"/>
                  <a:chExt cx="4910670" cy="141012"/>
                </a:xfrm>
              </p:grpSpPr>
              <p:sp>
                <p:nvSpPr>
                  <p:cNvPr id="66" name="Rectangle 65">
                    <a:extLst>
                      <a:ext uri="{FF2B5EF4-FFF2-40B4-BE49-F238E27FC236}">
                        <a16:creationId xmlns:a16="http://schemas.microsoft.com/office/drawing/2014/main" id="{6D576EB3-9A9C-5A7E-8AFC-08E03A341D9B}"/>
                      </a:ext>
                    </a:extLst>
                  </p:cNvPr>
                  <p:cNvSpPr/>
                  <p:nvPr/>
                </p:nvSpPr>
                <p:spPr>
                  <a:xfrm>
                    <a:off x="4616525" y="4578972"/>
                    <a:ext cx="113158" cy="1265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91482D8D-590C-40F3-6DEB-39502EBD2FEF}"/>
                      </a:ext>
                    </a:extLst>
                  </p:cNvPr>
                  <p:cNvSpPr/>
                  <p:nvPr/>
                </p:nvSpPr>
                <p:spPr>
                  <a:xfrm>
                    <a:off x="5673240" y="4573032"/>
                    <a:ext cx="113158" cy="1265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6F2E1322-BC03-4617-1A85-1CDCD489EBC2}"/>
                      </a:ext>
                    </a:extLst>
                  </p:cNvPr>
                  <p:cNvSpPr/>
                  <p:nvPr/>
                </p:nvSpPr>
                <p:spPr>
                  <a:xfrm>
                    <a:off x="6694791" y="4578972"/>
                    <a:ext cx="113158" cy="1265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A78E882-2D34-40D7-AFFF-CA16C6CBD448}"/>
                      </a:ext>
                    </a:extLst>
                  </p:cNvPr>
                  <p:cNvSpPr/>
                  <p:nvPr/>
                </p:nvSpPr>
                <p:spPr>
                  <a:xfrm>
                    <a:off x="7457996" y="4585439"/>
                    <a:ext cx="113158" cy="1265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F8FA07E-C27E-D602-7B4E-E449C730E399}"/>
                      </a:ext>
                    </a:extLst>
                  </p:cNvPr>
                  <p:cNvSpPr/>
                  <p:nvPr/>
                </p:nvSpPr>
                <p:spPr>
                  <a:xfrm>
                    <a:off x="8266500" y="4585427"/>
                    <a:ext cx="113158" cy="1265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2589CED-81EA-82EC-6CE2-593BAC2F154C}"/>
                      </a:ext>
                    </a:extLst>
                  </p:cNvPr>
                  <p:cNvSpPr/>
                  <p:nvPr/>
                </p:nvSpPr>
                <p:spPr>
                  <a:xfrm>
                    <a:off x="9414037" y="4571010"/>
                    <a:ext cx="113158" cy="12658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3" name="Rectangle 92">
                  <a:extLst>
                    <a:ext uri="{FF2B5EF4-FFF2-40B4-BE49-F238E27FC236}">
                      <a16:creationId xmlns:a16="http://schemas.microsoft.com/office/drawing/2014/main" id="{FE8290F5-F630-D99A-1AB2-B5CB31872F99}"/>
                    </a:ext>
                  </a:extLst>
                </p:cNvPr>
                <p:cNvSpPr/>
                <p:nvPr/>
              </p:nvSpPr>
              <p:spPr>
                <a:xfrm>
                  <a:off x="3976447" y="5147659"/>
                  <a:ext cx="103570" cy="14498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AB9ED717-7AF3-2B65-12D7-0C7613B983EC}"/>
                    </a:ext>
                  </a:extLst>
                </p:cNvPr>
                <p:cNvSpPr/>
                <p:nvPr/>
              </p:nvSpPr>
              <p:spPr>
                <a:xfrm>
                  <a:off x="3339704" y="5147667"/>
                  <a:ext cx="103570" cy="14498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6" name="Rectangle 40">
                <a:extLst>
                  <a:ext uri="{FF2B5EF4-FFF2-40B4-BE49-F238E27FC236}">
                    <a16:creationId xmlns:a16="http://schemas.microsoft.com/office/drawing/2014/main" id="{C0BB7524-8893-8A08-E4E0-F1D1A487E927}"/>
                  </a:ext>
                </a:extLst>
              </p:cNvPr>
              <p:cNvSpPr>
                <a:spLocks noChangeArrowheads="1"/>
              </p:cNvSpPr>
              <p:nvPr/>
            </p:nvSpPr>
            <p:spPr bwMode="auto">
              <a:xfrm>
                <a:off x="227717" y="4798845"/>
                <a:ext cx="124072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rPr>
                  <a:t>Blood sample</a:t>
                </a:r>
                <a:endParaRPr kumimoji="0" lang="en-US" altLang="en-US" sz="1600" b="0" i="0" strike="noStrike" cap="none" normalizeH="0" baseline="0" dirty="0">
                  <a:ln>
                    <a:noFill/>
                  </a:ln>
                  <a:solidFill>
                    <a:schemeClr val="tx1"/>
                  </a:solidFill>
                  <a:effectLst/>
                  <a:latin typeface="Arial" panose="020B0604020202020204" pitchFamily="34" charset="0"/>
                </a:endParaRPr>
              </a:p>
            </p:txBody>
          </p:sp>
          <p:sp>
            <p:nvSpPr>
              <p:cNvPr id="97" name="Triangle 96">
                <a:extLst>
                  <a:ext uri="{FF2B5EF4-FFF2-40B4-BE49-F238E27FC236}">
                    <a16:creationId xmlns:a16="http://schemas.microsoft.com/office/drawing/2014/main" id="{45300A48-378C-4A86-C1A9-4EBD845CBD60}"/>
                  </a:ext>
                </a:extLst>
              </p:cNvPr>
              <p:cNvSpPr/>
              <p:nvPr/>
            </p:nvSpPr>
            <p:spPr>
              <a:xfrm>
                <a:off x="3170937" y="2856789"/>
                <a:ext cx="250665" cy="2397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riangle 97">
                <a:extLst>
                  <a:ext uri="{FF2B5EF4-FFF2-40B4-BE49-F238E27FC236}">
                    <a16:creationId xmlns:a16="http://schemas.microsoft.com/office/drawing/2014/main" id="{2653C4D8-1BCB-E928-2670-D00A210BDF69}"/>
                  </a:ext>
                </a:extLst>
              </p:cNvPr>
              <p:cNvSpPr/>
              <p:nvPr/>
            </p:nvSpPr>
            <p:spPr>
              <a:xfrm>
                <a:off x="3170936" y="3498920"/>
                <a:ext cx="250665" cy="2397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riangle 98">
                <a:extLst>
                  <a:ext uri="{FF2B5EF4-FFF2-40B4-BE49-F238E27FC236}">
                    <a16:creationId xmlns:a16="http://schemas.microsoft.com/office/drawing/2014/main" id="{AD212FF5-F53A-247B-C53A-BE0753E6F557}"/>
                  </a:ext>
                </a:extLst>
              </p:cNvPr>
              <p:cNvSpPr/>
              <p:nvPr/>
            </p:nvSpPr>
            <p:spPr>
              <a:xfrm>
                <a:off x="3155913" y="4111988"/>
                <a:ext cx="250665" cy="2397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riangle 99">
                <a:extLst>
                  <a:ext uri="{FF2B5EF4-FFF2-40B4-BE49-F238E27FC236}">
                    <a16:creationId xmlns:a16="http://schemas.microsoft.com/office/drawing/2014/main" id="{C9A4D916-0912-F87E-BA56-EFB441E756E7}"/>
                  </a:ext>
                </a:extLst>
              </p:cNvPr>
              <p:cNvSpPr/>
              <p:nvPr/>
            </p:nvSpPr>
            <p:spPr>
              <a:xfrm>
                <a:off x="2494808" y="4111756"/>
                <a:ext cx="250665" cy="2397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ED33071B-E24C-AF9B-5B78-8F3CA8B51005}"/>
                  </a:ext>
                </a:extLst>
              </p:cNvPr>
              <p:cNvSpPr/>
              <p:nvPr/>
            </p:nvSpPr>
            <p:spPr>
              <a:xfrm>
                <a:off x="2302439" y="3529661"/>
                <a:ext cx="254302" cy="246221"/>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9B9C4787-B2DF-0436-60CB-60E3929EB446}"/>
                  </a:ext>
                </a:extLst>
              </p:cNvPr>
              <p:cNvSpPr txBox="1"/>
              <p:nvPr/>
            </p:nvSpPr>
            <p:spPr>
              <a:xfrm>
                <a:off x="2481162" y="3476103"/>
                <a:ext cx="280546" cy="369332"/>
              </a:xfrm>
              <a:prstGeom prst="rect">
                <a:avLst/>
              </a:prstGeom>
              <a:noFill/>
            </p:spPr>
            <p:txBody>
              <a:bodyPr wrap="square" rtlCol="0">
                <a:spAutoFit/>
              </a:bodyPr>
              <a:lstStyle/>
              <a:p>
                <a:r>
                  <a:rPr lang="en-US" dirty="0"/>
                  <a:t>+</a:t>
                </a:r>
              </a:p>
            </p:txBody>
          </p:sp>
          <p:sp>
            <p:nvSpPr>
              <p:cNvPr id="103" name="Triangle 102">
                <a:extLst>
                  <a:ext uri="{FF2B5EF4-FFF2-40B4-BE49-F238E27FC236}">
                    <a16:creationId xmlns:a16="http://schemas.microsoft.com/office/drawing/2014/main" id="{B1D43521-8DFB-58A5-5D85-FC01731EA4C9}"/>
                  </a:ext>
                </a:extLst>
              </p:cNvPr>
              <p:cNvSpPr/>
              <p:nvPr/>
            </p:nvSpPr>
            <p:spPr>
              <a:xfrm>
                <a:off x="2684292" y="3518219"/>
                <a:ext cx="250665" cy="2397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97DF9B2F-3C26-1093-69CB-4F99F747805F}"/>
                  </a:ext>
                </a:extLst>
              </p:cNvPr>
              <p:cNvCxnSpPr>
                <a:cxnSpLocks/>
              </p:cNvCxnSpPr>
              <p:nvPr/>
            </p:nvCxnSpPr>
            <p:spPr>
              <a:xfrm>
                <a:off x="181655" y="3322064"/>
                <a:ext cx="8600071" cy="0"/>
              </a:xfrm>
              <a:prstGeom prst="line">
                <a:avLst/>
              </a:prstGeom>
            </p:spPr>
            <p:style>
              <a:lnRef idx="2">
                <a:schemeClr val="dk1"/>
              </a:lnRef>
              <a:fillRef idx="0">
                <a:schemeClr val="dk1"/>
              </a:fillRef>
              <a:effectRef idx="1">
                <a:schemeClr val="dk1"/>
              </a:effectRef>
              <a:fontRef idx="minor">
                <a:schemeClr val="tx1"/>
              </a:fontRef>
            </p:style>
          </p:cxnSp>
          <p:cxnSp>
            <p:nvCxnSpPr>
              <p:cNvPr id="107" name="Straight Connector 106">
                <a:extLst>
                  <a:ext uri="{FF2B5EF4-FFF2-40B4-BE49-F238E27FC236}">
                    <a16:creationId xmlns:a16="http://schemas.microsoft.com/office/drawing/2014/main" id="{067DEF37-5167-6C48-19DC-EAEC21A18604}"/>
                  </a:ext>
                </a:extLst>
              </p:cNvPr>
              <p:cNvCxnSpPr>
                <a:cxnSpLocks/>
              </p:cNvCxnSpPr>
              <p:nvPr/>
            </p:nvCxnSpPr>
            <p:spPr>
              <a:xfrm>
                <a:off x="181655" y="3937588"/>
                <a:ext cx="8600071" cy="0"/>
              </a:xfrm>
              <a:prstGeom prst="line">
                <a:avLst/>
              </a:prstGeom>
            </p:spPr>
            <p:style>
              <a:lnRef idx="2">
                <a:schemeClr val="dk1"/>
              </a:lnRef>
              <a:fillRef idx="0">
                <a:schemeClr val="dk1"/>
              </a:fillRef>
              <a:effectRef idx="1">
                <a:schemeClr val="dk1"/>
              </a:effectRef>
              <a:fontRef idx="minor">
                <a:schemeClr val="tx1"/>
              </a:fontRef>
            </p:style>
          </p:cxnSp>
          <p:cxnSp>
            <p:nvCxnSpPr>
              <p:cNvPr id="163" name="Straight Connector 162">
                <a:extLst>
                  <a:ext uri="{FF2B5EF4-FFF2-40B4-BE49-F238E27FC236}">
                    <a16:creationId xmlns:a16="http://schemas.microsoft.com/office/drawing/2014/main" id="{FA43A24C-6869-6298-A849-1E86FA4B0BC9}"/>
                  </a:ext>
                </a:extLst>
              </p:cNvPr>
              <p:cNvCxnSpPr>
                <a:cxnSpLocks/>
              </p:cNvCxnSpPr>
              <p:nvPr/>
            </p:nvCxnSpPr>
            <p:spPr>
              <a:xfrm>
                <a:off x="181655" y="4587597"/>
                <a:ext cx="8600071" cy="0"/>
              </a:xfrm>
              <a:prstGeom prst="line">
                <a:avLst/>
              </a:prstGeom>
            </p:spPr>
            <p:style>
              <a:lnRef idx="2">
                <a:schemeClr val="dk1"/>
              </a:lnRef>
              <a:fillRef idx="0">
                <a:schemeClr val="dk1"/>
              </a:fillRef>
              <a:effectRef idx="1">
                <a:schemeClr val="dk1"/>
              </a:effectRef>
              <a:fontRef idx="minor">
                <a:schemeClr val="tx1"/>
              </a:fontRef>
            </p:style>
          </p:cxnSp>
        </p:grpSp>
        <p:cxnSp>
          <p:nvCxnSpPr>
            <p:cNvPr id="186" name="Straight Connector 185">
              <a:extLst>
                <a:ext uri="{FF2B5EF4-FFF2-40B4-BE49-F238E27FC236}">
                  <a16:creationId xmlns:a16="http://schemas.microsoft.com/office/drawing/2014/main" id="{8FCF7076-BAF9-B6A3-EAF4-17070788D35B}"/>
                </a:ext>
              </a:extLst>
            </p:cNvPr>
            <p:cNvCxnSpPr>
              <a:cxnSpLocks/>
              <a:stCxn id="14" idx="1"/>
            </p:cNvCxnSpPr>
            <p:nvPr/>
          </p:nvCxnSpPr>
          <p:spPr>
            <a:xfrm>
              <a:off x="2853648" y="2736727"/>
              <a:ext cx="2321640" cy="9049"/>
            </a:xfrm>
            <a:prstGeom prst="line">
              <a:avLst/>
            </a:prstGeom>
            <a:ln w="12700"/>
          </p:spPr>
          <p:style>
            <a:lnRef idx="2">
              <a:schemeClr val="dk1"/>
            </a:lnRef>
            <a:fillRef idx="0">
              <a:schemeClr val="dk1"/>
            </a:fillRef>
            <a:effectRef idx="1">
              <a:schemeClr val="dk1"/>
            </a:effectRef>
            <a:fontRef idx="minor">
              <a:schemeClr val="tx1"/>
            </a:fontRef>
          </p:style>
        </p:cxnSp>
        <p:cxnSp>
          <p:nvCxnSpPr>
            <p:cNvPr id="191" name="Straight Connector 190">
              <a:extLst>
                <a:ext uri="{FF2B5EF4-FFF2-40B4-BE49-F238E27FC236}">
                  <a16:creationId xmlns:a16="http://schemas.microsoft.com/office/drawing/2014/main" id="{1CF07BD9-BF72-E476-89AE-522BE3291EEA}"/>
                </a:ext>
              </a:extLst>
            </p:cNvPr>
            <p:cNvCxnSpPr>
              <a:cxnSpLocks/>
              <a:endCxn id="24" idx="1"/>
            </p:cNvCxnSpPr>
            <p:nvPr/>
          </p:nvCxnSpPr>
          <p:spPr>
            <a:xfrm>
              <a:off x="5250126" y="2741432"/>
              <a:ext cx="2751883" cy="3112"/>
            </a:xfrm>
            <a:prstGeom prst="line">
              <a:avLst/>
            </a:prstGeom>
            <a:ln w="12700"/>
          </p:spPr>
          <p:style>
            <a:lnRef idx="2">
              <a:schemeClr val="dk1"/>
            </a:lnRef>
            <a:fillRef idx="0">
              <a:schemeClr val="dk1"/>
            </a:fillRef>
            <a:effectRef idx="1">
              <a:schemeClr val="dk1"/>
            </a:effectRef>
            <a:fontRef idx="minor">
              <a:schemeClr val="tx1"/>
            </a:fontRef>
          </p:style>
        </p:cxnSp>
      </p:grpSp>
      <p:sp>
        <p:nvSpPr>
          <p:cNvPr id="201" name="TextBox 200">
            <a:extLst>
              <a:ext uri="{FF2B5EF4-FFF2-40B4-BE49-F238E27FC236}">
                <a16:creationId xmlns:a16="http://schemas.microsoft.com/office/drawing/2014/main" id="{EDDC2ABF-E7C5-348A-624D-06AAE75898B9}"/>
              </a:ext>
            </a:extLst>
          </p:cNvPr>
          <p:cNvSpPr txBox="1"/>
          <p:nvPr/>
        </p:nvSpPr>
        <p:spPr>
          <a:xfrm>
            <a:off x="2686462" y="196910"/>
            <a:ext cx="3301043" cy="461665"/>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Study Design-WU409</a:t>
            </a:r>
          </a:p>
        </p:txBody>
      </p:sp>
      <p:cxnSp>
        <p:nvCxnSpPr>
          <p:cNvPr id="203" name="Straight Connector 202">
            <a:extLst>
              <a:ext uri="{FF2B5EF4-FFF2-40B4-BE49-F238E27FC236}">
                <a16:creationId xmlns:a16="http://schemas.microsoft.com/office/drawing/2014/main" id="{14AA656C-4C69-3899-686B-5E4E02ABFE06}"/>
              </a:ext>
            </a:extLst>
          </p:cNvPr>
          <p:cNvCxnSpPr>
            <a:cxnSpLocks/>
          </p:cNvCxnSpPr>
          <p:nvPr/>
        </p:nvCxnSpPr>
        <p:spPr>
          <a:xfrm flipV="1">
            <a:off x="8148777" y="861237"/>
            <a:ext cx="0" cy="5295014"/>
          </a:xfrm>
          <a:prstGeom prst="line">
            <a:avLst/>
          </a:prstGeom>
        </p:spPr>
        <p:style>
          <a:lnRef idx="2">
            <a:schemeClr val="dk1"/>
          </a:lnRef>
          <a:fillRef idx="0">
            <a:schemeClr val="dk1"/>
          </a:fillRef>
          <a:effectRef idx="1">
            <a:schemeClr val="dk1"/>
          </a:effectRef>
          <a:fontRef idx="minor">
            <a:schemeClr val="tx1"/>
          </a:fontRef>
        </p:style>
      </p:cxnSp>
      <p:sp>
        <p:nvSpPr>
          <p:cNvPr id="205" name="TextBox 204">
            <a:extLst>
              <a:ext uri="{FF2B5EF4-FFF2-40B4-BE49-F238E27FC236}">
                <a16:creationId xmlns:a16="http://schemas.microsoft.com/office/drawing/2014/main" id="{F8626C5F-1BAF-428F-4AED-8BBFA4D57CE4}"/>
              </a:ext>
            </a:extLst>
          </p:cNvPr>
          <p:cNvSpPr txBox="1"/>
          <p:nvPr/>
        </p:nvSpPr>
        <p:spPr>
          <a:xfrm>
            <a:off x="8987684" y="196910"/>
            <a:ext cx="2372143" cy="461665"/>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Project Goals</a:t>
            </a:r>
          </a:p>
        </p:txBody>
      </p:sp>
      <p:sp>
        <p:nvSpPr>
          <p:cNvPr id="2" name="TextBox 1">
            <a:extLst>
              <a:ext uri="{FF2B5EF4-FFF2-40B4-BE49-F238E27FC236}">
                <a16:creationId xmlns:a16="http://schemas.microsoft.com/office/drawing/2014/main" id="{BC45D522-21A1-ECBF-824D-133E3ED1D22F}"/>
              </a:ext>
            </a:extLst>
          </p:cNvPr>
          <p:cNvSpPr txBox="1"/>
          <p:nvPr/>
        </p:nvSpPr>
        <p:spPr>
          <a:xfrm>
            <a:off x="8547100" y="1139028"/>
            <a:ext cx="3416300" cy="5309146"/>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dirty="0">
                <a:latin typeface="Arial" panose="020B0604020202020204" pitchFamily="34" charset="0"/>
                <a:cs typeface="Arial" panose="020B0604020202020204" pitchFamily="34" charset="0"/>
              </a:rPr>
              <a:t>Generate neutralization curves for each participant’s plasma samples from day 28, day 56, and day 365.</a:t>
            </a:r>
          </a:p>
          <a:p>
            <a:pPr marL="285750" indent="-285750">
              <a:spcAft>
                <a:spcPts val="600"/>
              </a:spcAft>
              <a:buFont typeface="Arial" panose="020B0604020202020204" pitchFamily="34" charset="0"/>
              <a:buChar char="•"/>
            </a:pPr>
            <a:r>
              <a:rPr lang="en-US" dirty="0">
                <a:latin typeface="Arial" panose="020B0604020202020204" pitchFamily="34" charset="0"/>
                <a:cs typeface="Arial" panose="020B0604020202020204" pitchFamily="34" charset="0"/>
              </a:rPr>
              <a:t>Determine if receiving Rabies IG at different timepoints affects plasma potency in neutralizing Rabies G </a:t>
            </a:r>
            <a:r>
              <a:rPr lang="en-US" dirty="0" err="1">
                <a:latin typeface="Arial" panose="020B0604020202020204" pitchFamily="34" charset="0"/>
                <a:cs typeface="Arial" panose="020B0604020202020204" pitchFamily="34" charset="0"/>
              </a:rPr>
              <a:t>pesudovirus</a:t>
            </a:r>
            <a:r>
              <a:rPr lang="en-US" dirty="0">
                <a:latin typeface="Arial" panose="020B0604020202020204" pitchFamily="34" charset="0"/>
                <a:cs typeface="Arial" panose="020B0604020202020204" pitchFamily="34" charset="0"/>
              </a:rPr>
              <a:t>  by comparing data between cohorts.</a:t>
            </a:r>
          </a:p>
          <a:p>
            <a:pPr marL="285750" indent="-285750">
              <a:spcAft>
                <a:spcPts val="600"/>
              </a:spcAft>
              <a:buFont typeface="Arial" panose="020B0604020202020204" pitchFamily="34" charset="0"/>
              <a:buChar char="•"/>
            </a:pPr>
            <a:r>
              <a:rPr lang="en-US" dirty="0">
                <a:latin typeface="Arial" panose="020B0604020202020204" pitchFamily="34" charset="0"/>
                <a:cs typeface="Arial" panose="020B0604020202020204" pitchFamily="34" charset="0"/>
              </a:rPr>
              <a:t>Determine how plasma potency in neutralizing Rabies G </a:t>
            </a:r>
            <a:r>
              <a:rPr lang="en-US" dirty="0" err="1">
                <a:latin typeface="Arial" panose="020B0604020202020204" pitchFamily="34" charset="0"/>
                <a:cs typeface="Arial" panose="020B0604020202020204" pitchFamily="34" charset="0"/>
              </a:rPr>
              <a:t>pseudovirus</a:t>
            </a:r>
            <a:r>
              <a:rPr lang="en-US" dirty="0">
                <a:latin typeface="Arial" panose="020B0604020202020204" pitchFamily="34" charset="0"/>
                <a:cs typeface="Arial" panose="020B0604020202020204" pitchFamily="34" charset="0"/>
              </a:rPr>
              <a:t> changes over time by comparing data between timepoints.</a:t>
            </a:r>
          </a:p>
          <a:p>
            <a:endParaRPr lang="en-US" dirty="0"/>
          </a:p>
        </p:txBody>
      </p:sp>
    </p:spTree>
    <p:extLst>
      <p:ext uri="{BB962C8B-B14F-4D97-AF65-F5344CB8AC3E}">
        <p14:creationId xmlns:p14="http://schemas.microsoft.com/office/powerpoint/2010/main" val="31403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3BE7832-745A-4B9F-98F1-F3933490D877}"/>
              </a:ext>
            </a:extLst>
          </p:cNvPr>
          <p:cNvSpPr txBox="1"/>
          <p:nvPr/>
        </p:nvSpPr>
        <p:spPr>
          <a:xfrm>
            <a:off x="6322742" y="2489835"/>
            <a:ext cx="5486398" cy="830997"/>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1. Neutralization Titer (inverse of IC50; log scale) of each participant’s plasma samples across d28, d56, and d365, faceted by cohort. IC50s were generated through neutralization assays of Rabies G </a:t>
            </a:r>
            <a:r>
              <a:rPr lang="en-US" sz="1200" b="1" dirty="0" err="1">
                <a:latin typeface="Arial" panose="020B0604020202020204" pitchFamily="34" charset="0"/>
                <a:cs typeface="Arial" panose="020B0604020202020204" pitchFamily="34" charset="0"/>
              </a:rPr>
              <a:t>pseudovirus</a:t>
            </a:r>
            <a:r>
              <a:rPr lang="en-US" sz="1200" b="1" dirty="0">
                <a:latin typeface="Arial" panose="020B0604020202020204" pitchFamily="34" charset="0"/>
                <a:cs typeface="Arial" panose="020B0604020202020204" pitchFamily="34" charset="0"/>
              </a:rPr>
              <a:t> with plasma samples. Median NT50 for each timepoint shown in black.  </a:t>
            </a:r>
          </a:p>
        </p:txBody>
      </p:sp>
      <p:sp>
        <p:nvSpPr>
          <p:cNvPr id="10" name="TextBox 9">
            <a:extLst>
              <a:ext uri="{FF2B5EF4-FFF2-40B4-BE49-F238E27FC236}">
                <a16:creationId xmlns:a16="http://schemas.microsoft.com/office/drawing/2014/main" id="{16ED12A7-A3AC-61F2-941F-398DC5FA4F64}"/>
              </a:ext>
            </a:extLst>
          </p:cNvPr>
          <p:cNvSpPr txBox="1"/>
          <p:nvPr/>
        </p:nvSpPr>
        <p:spPr>
          <a:xfrm>
            <a:off x="6322742" y="5375660"/>
            <a:ext cx="5486398" cy="1015663"/>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 Neutralization Titer (inverse of IC50; log scale) of each participant across Cohorts 1, 2, and 3, faceted by timepoint (d28, d56, d365). IC50s were generated through neutralization assays of Rabies G </a:t>
            </a:r>
            <a:r>
              <a:rPr lang="en-US" sz="1200" b="1" dirty="0" err="1">
                <a:latin typeface="Arial" panose="020B0604020202020204" pitchFamily="34" charset="0"/>
                <a:cs typeface="Arial" panose="020B0604020202020204" pitchFamily="34" charset="0"/>
              </a:rPr>
              <a:t>pseudovirus</a:t>
            </a:r>
            <a:r>
              <a:rPr lang="en-US" sz="1200" b="1" dirty="0">
                <a:latin typeface="Arial" panose="020B0604020202020204" pitchFamily="34" charset="0"/>
                <a:cs typeface="Arial" panose="020B0604020202020204" pitchFamily="34" charset="0"/>
              </a:rPr>
              <a:t> with plasma samples. The horizontal bar represents the median NT50 of each cohort for that timepoint.  </a:t>
            </a:r>
          </a:p>
        </p:txBody>
      </p:sp>
      <p:pic>
        <p:nvPicPr>
          <p:cNvPr id="4" name="Graphic 3">
            <a:extLst>
              <a:ext uri="{FF2B5EF4-FFF2-40B4-BE49-F238E27FC236}">
                <a16:creationId xmlns:a16="http://schemas.microsoft.com/office/drawing/2014/main" id="{F8DA5EA2-70A1-5C50-9A07-D8D63A90DF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58" y="3429000"/>
            <a:ext cx="5104311" cy="3253998"/>
          </a:xfrm>
          <a:prstGeom prst="rect">
            <a:avLst/>
          </a:prstGeom>
        </p:spPr>
      </p:pic>
      <p:pic>
        <p:nvPicPr>
          <p:cNvPr id="8" name="Graphic 7">
            <a:extLst>
              <a:ext uri="{FF2B5EF4-FFF2-40B4-BE49-F238E27FC236}">
                <a16:creationId xmlns:a16="http://schemas.microsoft.com/office/drawing/2014/main" id="{8A295097-52EE-4C95-7B14-29294ACE666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58" y="53432"/>
            <a:ext cx="6048742" cy="3267400"/>
          </a:xfrm>
          <a:prstGeom prst="rect">
            <a:avLst/>
          </a:prstGeom>
        </p:spPr>
      </p:pic>
      <p:sp>
        <p:nvSpPr>
          <p:cNvPr id="11" name="TextBox 10">
            <a:extLst>
              <a:ext uri="{FF2B5EF4-FFF2-40B4-BE49-F238E27FC236}">
                <a16:creationId xmlns:a16="http://schemas.microsoft.com/office/drawing/2014/main" id="{E5291FB2-B172-D6C8-69EC-8DADB68A7F1E}"/>
              </a:ext>
            </a:extLst>
          </p:cNvPr>
          <p:cNvSpPr txBox="1"/>
          <p:nvPr/>
        </p:nvSpPr>
        <p:spPr>
          <a:xfrm>
            <a:off x="7501750" y="215926"/>
            <a:ext cx="3423135" cy="830997"/>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NT50 plots faceted by cohort and timepoint</a:t>
            </a:r>
          </a:p>
        </p:txBody>
      </p:sp>
    </p:spTree>
    <p:extLst>
      <p:ext uri="{BB962C8B-B14F-4D97-AF65-F5344CB8AC3E}">
        <p14:creationId xmlns:p14="http://schemas.microsoft.com/office/powerpoint/2010/main" val="1391980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5B73165C-B0CA-FC87-449D-93374C8A975E}"/>
              </a:ext>
            </a:extLst>
          </p:cNvPr>
          <p:cNvCxnSpPr>
            <a:cxnSpLocks/>
          </p:cNvCxnSpPr>
          <p:nvPr/>
        </p:nvCxnSpPr>
        <p:spPr>
          <a:xfrm>
            <a:off x="5805126" y="945336"/>
            <a:ext cx="0" cy="5609782"/>
          </a:xfrm>
          <a:prstGeom prst="line">
            <a:avLst/>
          </a:prstGeom>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F9F3FA0E-5977-C3CE-D033-D62578B013CF}"/>
              </a:ext>
            </a:extLst>
          </p:cNvPr>
          <p:cNvSpPr txBox="1"/>
          <p:nvPr/>
        </p:nvSpPr>
        <p:spPr>
          <a:xfrm>
            <a:off x="163014" y="4026555"/>
            <a:ext cx="3855075"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Ali’s live-virus IU data</a:t>
            </a:r>
          </a:p>
        </p:txBody>
      </p:sp>
      <p:pic>
        <p:nvPicPr>
          <p:cNvPr id="6" name="Picture 5">
            <a:extLst>
              <a:ext uri="{FF2B5EF4-FFF2-40B4-BE49-F238E27FC236}">
                <a16:creationId xmlns:a16="http://schemas.microsoft.com/office/drawing/2014/main" id="{450B4881-623A-B574-8A93-8783908D3FC6}"/>
              </a:ext>
            </a:extLst>
          </p:cNvPr>
          <p:cNvPicPr>
            <a:picLocks noChangeAspect="1"/>
          </p:cNvPicPr>
          <p:nvPr/>
        </p:nvPicPr>
        <p:blipFill>
          <a:blip r:embed="rId3"/>
          <a:srcRect l="33451"/>
          <a:stretch>
            <a:fillRect/>
          </a:stretch>
        </p:blipFill>
        <p:spPr>
          <a:xfrm>
            <a:off x="163014" y="4332164"/>
            <a:ext cx="3710778" cy="2286353"/>
          </a:xfrm>
          <a:prstGeom prst="rect">
            <a:avLst/>
          </a:prstGeom>
        </p:spPr>
      </p:pic>
      <p:sp>
        <p:nvSpPr>
          <p:cNvPr id="29" name="TextBox 28">
            <a:extLst>
              <a:ext uri="{FF2B5EF4-FFF2-40B4-BE49-F238E27FC236}">
                <a16:creationId xmlns:a16="http://schemas.microsoft.com/office/drawing/2014/main" id="{BC1CF8EE-AFCC-C016-6BC6-A75BA6DC84AD}"/>
              </a:ext>
            </a:extLst>
          </p:cNvPr>
          <p:cNvSpPr txBox="1"/>
          <p:nvPr/>
        </p:nvSpPr>
        <p:spPr>
          <a:xfrm>
            <a:off x="3796045" y="134646"/>
            <a:ext cx="4401658" cy="461665"/>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Comparison to previous data</a:t>
            </a:r>
          </a:p>
        </p:txBody>
      </p:sp>
      <p:pic>
        <p:nvPicPr>
          <p:cNvPr id="5" name="Graphic 4">
            <a:extLst>
              <a:ext uri="{FF2B5EF4-FFF2-40B4-BE49-F238E27FC236}">
                <a16:creationId xmlns:a16="http://schemas.microsoft.com/office/drawing/2014/main" id="{1827FC29-FC4C-213E-3A03-72E489B987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014" y="696623"/>
            <a:ext cx="5104311" cy="3253998"/>
          </a:xfrm>
          <a:prstGeom prst="rect">
            <a:avLst/>
          </a:prstGeom>
        </p:spPr>
      </p:pic>
      <p:pic>
        <p:nvPicPr>
          <p:cNvPr id="7" name="Graphic 6">
            <a:extLst>
              <a:ext uri="{FF2B5EF4-FFF2-40B4-BE49-F238E27FC236}">
                <a16:creationId xmlns:a16="http://schemas.microsoft.com/office/drawing/2014/main" id="{B965F564-B215-F21B-F87F-2CBA69CB7F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40428" y="783660"/>
            <a:ext cx="5443946" cy="2940702"/>
          </a:xfrm>
          <a:prstGeom prst="rect">
            <a:avLst/>
          </a:prstGeom>
        </p:spPr>
      </p:pic>
      <p:pic>
        <p:nvPicPr>
          <p:cNvPr id="8" name="Picture 7">
            <a:extLst>
              <a:ext uri="{FF2B5EF4-FFF2-40B4-BE49-F238E27FC236}">
                <a16:creationId xmlns:a16="http://schemas.microsoft.com/office/drawing/2014/main" id="{114DFF09-1C0E-2B2B-CF10-CC0CB0625AC2}"/>
              </a:ext>
            </a:extLst>
          </p:cNvPr>
          <p:cNvPicPr>
            <a:picLocks noChangeAspect="1"/>
          </p:cNvPicPr>
          <p:nvPr/>
        </p:nvPicPr>
        <p:blipFill>
          <a:blip r:embed="rId8"/>
          <a:srcRect t="12898"/>
          <a:stretch>
            <a:fillRect/>
          </a:stretch>
        </p:blipFill>
        <p:spPr>
          <a:xfrm>
            <a:off x="6625152" y="4504929"/>
            <a:ext cx="4447716" cy="2353071"/>
          </a:xfrm>
          <a:prstGeom prst="rect">
            <a:avLst/>
          </a:prstGeom>
        </p:spPr>
      </p:pic>
      <p:sp>
        <p:nvSpPr>
          <p:cNvPr id="10" name="TextBox 9">
            <a:extLst>
              <a:ext uri="{FF2B5EF4-FFF2-40B4-BE49-F238E27FC236}">
                <a16:creationId xmlns:a16="http://schemas.microsoft.com/office/drawing/2014/main" id="{66A06104-76B6-47D2-8F69-4D047035A6D5}"/>
              </a:ext>
            </a:extLst>
          </p:cNvPr>
          <p:cNvSpPr txBox="1"/>
          <p:nvPr/>
        </p:nvSpPr>
        <p:spPr>
          <a:xfrm>
            <a:off x="6240428" y="4058862"/>
            <a:ext cx="3855075"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Ali’s live-virus neutralization kinetics data</a:t>
            </a:r>
          </a:p>
        </p:txBody>
      </p:sp>
      <p:sp>
        <p:nvSpPr>
          <p:cNvPr id="11" name="TextBox 10">
            <a:extLst>
              <a:ext uri="{FF2B5EF4-FFF2-40B4-BE49-F238E27FC236}">
                <a16:creationId xmlns:a16="http://schemas.microsoft.com/office/drawing/2014/main" id="{EF0839A5-DC85-20B2-C23A-9A5F3B35C322}"/>
              </a:ext>
            </a:extLst>
          </p:cNvPr>
          <p:cNvSpPr txBox="1"/>
          <p:nvPr/>
        </p:nvSpPr>
        <p:spPr>
          <a:xfrm>
            <a:off x="3913610" y="5732829"/>
            <a:ext cx="1891516" cy="461665"/>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*Note that d28 and d56 use different scales</a:t>
            </a:r>
          </a:p>
        </p:txBody>
      </p:sp>
    </p:spTree>
    <p:extLst>
      <p:ext uri="{BB962C8B-B14F-4D97-AF65-F5344CB8AC3E}">
        <p14:creationId xmlns:p14="http://schemas.microsoft.com/office/powerpoint/2010/main" val="3733834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613EFD-B98F-F32B-6148-076DD45EC56C}"/>
              </a:ext>
            </a:extLst>
          </p:cNvPr>
          <p:cNvSpPr txBox="1"/>
          <p:nvPr/>
        </p:nvSpPr>
        <p:spPr>
          <a:xfrm>
            <a:off x="0" y="607192"/>
            <a:ext cx="6093994" cy="6305188"/>
          </a:xfrm>
          <a:prstGeom prst="rect">
            <a:avLst/>
          </a:prstGeom>
          <a:noFill/>
        </p:spPr>
        <p:txBody>
          <a:bodyPr wrap="square">
            <a:spAutoFit/>
          </a:bodyPr>
          <a:lstStyle/>
          <a:p>
            <a:pPr marL="228600" marR="0" indent="0">
              <a:lnSpc>
                <a:spcPct val="115000"/>
              </a:lnSpc>
              <a:buNone/>
            </a:pPr>
            <a:r>
              <a:rPr lang="en-US" sz="1100" b="1" kern="100" dirty="0">
                <a:effectLst/>
                <a:latin typeface="Arial" panose="020B0604020202020204" pitchFamily="34" charset="0"/>
                <a:ea typeface="Aptos" panose="020B0004020202020204" pitchFamily="34" charset="0"/>
              </a:rPr>
              <a:t>Methods for Neutralization assays with lentiviral particles </a:t>
            </a:r>
            <a:r>
              <a:rPr lang="en-US" sz="1100" b="1" kern="100" dirty="0" err="1">
                <a:effectLst/>
                <a:latin typeface="Arial" panose="020B0604020202020204" pitchFamily="34" charset="0"/>
                <a:ea typeface="Aptos" panose="020B0004020202020204" pitchFamily="34" charset="0"/>
              </a:rPr>
              <a:t>pseudotyped</a:t>
            </a:r>
            <a:r>
              <a:rPr lang="en-US" sz="1100" b="1" kern="100" dirty="0">
                <a:effectLst/>
                <a:latin typeface="Arial" panose="020B0604020202020204" pitchFamily="34" charset="0"/>
                <a:ea typeface="Aptos" panose="020B0004020202020204" pitchFamily="34" charset="0"/>
              </a:rPr>
              <a:t> with Rabies G</a:t>
            </a:r>
            <a:endParaRPr lang="en-US" sz="1100" kern="100" dirty="0">
              <a:effectLst/>
              <a:latin typeface="Arial" panose="020B0604020202020204" pitchFamily="34" charset="0"/>
              <a:ea typeface="Aptos" panose="020B0004020202020204" pitchFamily="34" charset="0"/>
            </a:endParaRPr>
          </a:p>
          <a:p>
            <a:pPr marL="228600" marR="0" indent="-228600">
              <a:lnSpc>
                <a:spcPct val="115000"/>
              </a:lnSpc>
              <a:buNone/>
            </a:pPr>
            <a:r>
              <a:rPr lang="en-US" sz="1100" b="1" kern="100" dirty="0">
                <a:effectLst/>
                <a:latin typeface="Arial" panose="020B0604020202020204" pitchFamily="34" charset="0"/>
                <a:ea typeface="Aptos" panose="020B0004020202020204" pitchFamily="34" charset="0"/>
              </a:rPr>
              <a:t> </a:t>
            </a:r>
            <a:endParaRPr lang="en-US" sz="1100" kern="100" dirty="0">
              <a:effectLst/>
              <a:latin typeface="Arial" panose="020B0604020202020204" pitchFamily="34" charset="0"/>
              <a:ea typeface="Aptos" panose="020B0004020202020204" pitchFamily="34" charset="0"/>
            </a:endParaRPr>
          </a:p>
          <a:p>
            <a:pPr marL="228600" marR="0" indent="0">
              <a:lnSpc>
                <a:spcPct val="115000"/>
              </a:lnSpc>
              <a:buNone/>
            </a:pPr>
            <a:r>
              <a:rPr lang="en-US" sz="1100" kern="100" dirty="0">
                <a:effectLst/>
                <a:latin typeface="Arial" panose="020B0604020202020204" pitchFamily="34" charset="0"/>
                <a:ea typeface="Aptos" panose="020B0004020202020204" pitchFamily="34" charset="0"/>
              </a:rPr>
              <a:t>The following methods were adapted from </a:t>
            </a:r>
            <a:r>
              <a:rPr lang="en-US" sz="1100" kern="100" dirty="0" err="1">
                <a:effectLst/>
                <a:latin typeface="Arial" panose="020B0604020202020204" pitchFamily="34" charset="0"/>
                <a:ea typeface="Aptos" panose="020B0004020202020204" pitchFamily="34" charset="0"/>
              </a:rPr>
              <a:t>Aditham</a:t>
            </a:r>
            <a:r>
              <a:rPr lang="en-US" sz="1100" kern="100" dirty="0">
                <a:effectLst/>
                <a:latin typeface="Arial" panose="020B0604020202020204" pitchFamily="34" charset="0"/>
                <a:ea typeface="Aptos" panose="020B0004020202020204" pitchFamily="34" charset="0"/>
              </a:rPr>
              <a:t> et al</a:t>
            </a:r>
            <a:r>
              <a:rPr lang="en-US" sz="1100" kern="100" baseline="30000" dirty="0">
                <a:effectLst/>
                <a:latin typeface="Arial" panose="020B0604020202020204" pitchFamily="34" charset="0"/>
                <a:ea typeface="Aptos" panose="020B0004020202020204" pitchFamily="34" charset="0"/>
              </a:rPr>
              <a:t>1</a:t>
            </a:r>
            <a:r>
              <a:rPr lang="en-US" sz="1100" kern="100" dirty="0">
                <a:effectLst/>
                <a:latin typeface="Arial" panose="020B0604020202020204" pitchFamily="34" charset="0"/>
                <a:ea typeface="Aptos" panose="020B0004020202020204" pitchFamily="34" charset="0"/>
              </a:rPr>
              <a:t>.</a:t>
            </a:r>
          </a:p>
          <a:p>
            <a:pPr marL="228600" marR="0" indent="0">
              <a:lnSpc>
                <a:spcPct val="115000"/>
              </a:lnSpc>
              <a:buNone/>
            </a:pPr>
            <a:r>
              <a:rPr lang="en-US" sz="1100" kern="100" dirty="0">
                <a:effectLst/>
                <a:latin typeface="Arial" panose="020B0604020202020204" pitchFamily="34" charset="0"/>
                <a:ea typeface="Aptos" panose="020B0004020202020204" pitchFamily="34" charset="0"/>
              </a:rPr>
              <a:t> </a:t>
            </a:r>
          </a:p>
          <a:p>
            <a:pPr marL="228600">
              <a:lnSpc>
                <a:spcPct val="115000"/>
              </a:lnSpc>
            </a:pPr>
            <a:r>
              <a:rPr lang="en-US" sz="1100" kern="100" dirty="0">
                <a:effectLst/>
                <a:latin typeface="Arial" panose="020B0604020202020204" pitchFamily="34" charset="0"/>
                <a:ea typeface="Aptos" panose="020B0004020202020204" pitchFamily="34" charset="0"/>
              </a:rPr>
              <a:t>Neutralization assays were performed using lentiviral particles </a:t>
            </a:r>
            <a:r>
              <a:rPr lang="en-US" sz="1100" kern="100" dirty="0" err="1">
                <a:effectLst/>
                <a:latin typeface="Arial" panose="020B0604020202020204" pitchFamily="34" charset="0"/>
                <a:ea typeface="Aptos" panose="020B0004020202020204" pitchFamily="34" charset="0"/>
              </a:rPr>
              <a:t>pesuodotyped</a:t>
            </a:r>
            <a:r>
              <a:rPr lang="en-US" sz="1100" kern="100" dirty="0">
                <a:effectLst/>
                <a:latin typeface="Arial" panose="020B0604020202020204" pitchFamily="34" charset="0"/>
                <a:ea typeface="Aptos" panose="020B0004020202020204" pitchFamily="34" charset="0"/>
              </a:rPr>
              <a:t> with a codon-optimized Rabies G protein from the Pasteur strain (NCBI reference number: NC_001542.1, locus number: NP_056796). A complete map of plasmids used in the </a:t>
            </a:r>
            <a:r>
              <a:rPr lang="en-US" sz="1100" kern="100" dirty="0" err="1">
                <a:effectLst/>
                <a:latin typeface="Arial" panose="020B0604020202020204" pitchFamily="34" charset="0"/>
                <a:ea typeface="Aptos" panose="020B0004020202020204" pitchFamily="34" charset="0"/>
              </a:rPr>
              <a:t>pseudotyping</a:t>
            </a:r>
            <a:r>
              <a:rPr lang="en-US" sz="1100" kern="100" dirty="0">
                <a:effectLst/>
                <a:latin typeface="Arial" panose="020B0604020202020204" pitchFamily="34" charset="0"/>
                <a:ea typeface="Aptos" panose="020B0004020202020204" pitchFamily="34" charset="0"/>
              </a:rPr>
              <a:t> process is available here: </a:t>
            </a:r>
            <a:r>
              <a:rPr lang="en-US" sz="1100" kern="100" dirty="0">
                <a:latin typeface="Arial" panose="020B0604020202020204" pitchFamily="34" charset="0"/>
                <a:ea typeface="Aptos" panose="020B0004020202020204" pitchFamily="34" charset="0"/>
                <a:hlinkClick r:id="rId3">
                  <a:extLst>
                    <a:ext uri="{A12FA001-AC4F-418D-AE19-62706E023703}">
                      <ahyp:hlinkClr xmlns:ahyp="http://schemas.microsoft.com/office/drawing/2018/hyperlinkcolor" val="tx"/>
                    </a:ext>
                  </a:extLst>
                </a:hlinkClick>
              </a:rPr>
              <a:t>https://github.com/dms-vep/RABV_Pasteur_G_DMS/tree/main/Additional_Data/PlasmidSequences</a:t>
            </a:r>
            <a:r>
              <a:rPr lang="en-US" sz="1100" kern="100" dirty="0">
                <a:latin typeface="Arial" panose="020B0604020202020204" pitchFamily="34" charset="0"/>
                <a:ea typeface="Aptos" panose="020B0004020202020204" pitchFamily="34" charset="0"/>
              </a:rPr>
              <a:t>. </a:t>
            </a:r>
            <a:r>
              <a:rPr lang="en-US" sz="1100" kern="100" dirty="0">
                <a:effectLst/>
                <a:latin typeface="Arial" panose="020B0604020202020204" pitchFamily="34" charset="0"/>
                <a:ea typeface="Aptos" panose="020B0004020202020204" pitchFamily="34" charset="0"/>
              </a:rPr>
              <a:t>293T cells were </a:t>
            </a:r>
            <a:r>
              <a:rPr lang="en-US" sz="1100" kern="100" dirty="0">
                <a:latin typeface="Arial" panose="020B0604020202020204" pitchFamily="34" charset="0"/>
                <a:ea typeface="Aptos" panose="020B0004020202020204" pitchFamily="34" charset="0"/>
              </a:rPr>
              <a:t>transfected with a lentivirus genome expressing </a:t>
            </a:r>
            <a:r>
              <a:rPr lang="en-US" sz="1100" kern="100" dirty="0" err="1">
                <a:latin typeface="Arial" panose="020B0604020202020204" pitchFamily="34" charset="0"/>
                <a:ea typeface="Aptos" panose="020B0004020202020204" pitchFamily="34" charset="0"/>
              </a:rPr>
              <a:t>zsgreen</a:t>
            </a:r>
            <a:r>
              <a:rPr lang="en-US" sz="1100" kern="100" dirty="0">
                <a:latin typeface="Arial" panose="020B0604020202020204" pitchFamily="34" charset="0"/>
                <a:ea typeface="Aptos" panose="020B0004020202020204" pitchFamily="34" charset="0"/>
              </a:rPr>
              <a:t> and luciferase, 26_HDM-Hgpm2, 27_HDM-tat1b, 28_pRC-CMV_Rev1b, and 3968_HDM_Rabies-G_Pasteur_GenscriptOpt3 in a 4:1:1:1:1 ratio, respectively, </a:t>
            </a:r>
            <a:r>
              <a:rPr lang="en-US" sz="1100" kern="100" dirty="0">
                <a:effectLst/>
                <a:latin typeface="Arial" panose="020B0604020202020204" pitchFamily="34" charset="0"/>
                <a:ea typeface="Aptos" panose="020B0004020202020204" pitchFamily="34" charset="0"/>
              </a:rPr>
              <a:t>using </a:t>
            </a:r>
            <a:r>
              <a:rPr lang="en-US" sz="1100" kern="100" dirty="0" err="1">
                <a:effectLst/>
                <a:latin typeface="Arial" panose="020B0604020202020204" pitchFamily="34" charset="0"/>
                <a:ea typeface="Aptos" panose="020B0004020202020204" pitchFamily="34" charset="0"/>
              </a:rPr>
              <a:t>BioT</a:t>
            </a:r>
            <a:r>
              <a:rPr lang="en-US" sz="1100" kern="100" dirty="0">
                <a:effectLst/>
                <a:latin typeface="Arial" panose="020B0604020202020204" pitchFamily="34" charset="0"/>
                <a:ea typeface="Aptos" panose="020B0004020202020204" pitchFamily="34" charset="0"/>
              </a:rPr>
              <a:t> according to the manufacturer’s recommendations. </a:t>
            </a:r>
            <a:r>
              <a:rPr lang="en-US" sz="1100" kern="100" dirty="0">
                <a:latin typeface="Arial" panose="020B0604020202020204" pitchFamily="34" charset="0"/>
                <a:ea typeface="Aptos" panose="020B0004020202020204" pitchFamily="34" charset="0"/>
              </a:rPr>
              <a:t>The </a:t>
            </a:r>
            <a:r>
              <a:rPr lang="en-US" sz="1100" kern="100" dirty="0" err="1">
                <a:latin typeface="Arial" panose="020B0604020202020204" pitchFamily="34" charset="0"/>
                <a:ea typeface="Aptos" panose="020B0004020202020204" pitchFamily="34" charset="0"/>
              </a:rPr>
              <a:t>pseudovirus</a:t>
            </a:r>
            <a:r>
              <a:rPr lang="en-US" sz="1100" kern="100" dirty="0">
                <a:latin typeface="Arial" panose="020B0604020202020204" pitchFamily="34" charset="0"/>
                <a:ea typeface="Aptos" panose="020B0004020202020204" pitchFamily="34" charset="0"/>
              </a:rPr>
              <a:t> was collected and filtered through a .45 </a:t>
            </a:r>
            <a:r>
              <a:rPr lang="en-US" sz="1100" kern="100" dirty="0" err="1">
                <a:latin typeface="Arial" panose="020B0604020202020204" pitchFamily="34" charset="0"/>
                <a:ea typeface="Aptos" panose="020B0004020202020204" pitchFamily="34" charset="0"/>
              </a:rPr>
              <a:t>μm</a:t>
            </a:r>
            <a:r>
              <a:rPr lang="en-US" sz="1100" kern="100" dirty="0">
                <a:latin typeface="Arial" panose="020B0604020202020204" pitchFamily="34" charset="0"/>
                <a:ea typeface="Aptos" panose="020B0004020202020204" pitchFamily="34" charset="0"/>
              </a:rPr>
              <a:t> SFCA filter and stored at -80° C until used. </a:t>
            </a:r>
            <a:endParaRPr lang="en-US" sz="1100" kern="100" dirty="0">
              <a:effectLst/>
              <a:latin typeface="Arial" panose="020B0604020202020204" pitchFamily="34" charset="0"/>
              <a:ea typeface="Aptos" panose="020B0004020202020204" pitchFamily="34" charset="0"/>
            </a:endParaRPr>
          </a:p>
          <a:p>
            <a:pPr marL="228600" marR="0" indent="0">
              <a:lnSpc>
                <a:spcPct val="115000"/>
              </a:lnSpc>
              <a:buNone/>
            </a:pPr>
            <a:r>
              <a:rPr lang="en-US" sz="1100" kern="100" dirty="0">
                <a:effectLst/>
                <a:latin typeface="Arial" panose="020B0604020202020204" pitchFamily="34" charset="0"/>
                <a:ea typeface="Aptos" panose="020B0004020202020204" pitchFamily="34" charset="0"/>
              </a:rPr>
              <a:t> </a:t>
            </a:r>
          </a:p>
          <a:p>
            <a:pPr marL="228600" marR="0" indent="0">
              <a:lnSpc>
                <a:spcPct val="115000"/>
              </a:lnSpc>
              <a:buNone/>
            </a:pPr>
            <a:r>
              <a:rPr lang="en-US" sz="1100" kern="100" dirty="0">
                <a:effectLst/>
                <a:latin typeface="Arial" panose="020B0604020202020204" pitchFamily="34" charset="0"/>
                <a:ea typeface="Aptos" panose="020B0004020202020204" pitchFamily="34" charset="0"/>
              </a:rPr>
              <a:t>Plasma samples were heat inactivated and processed. A 500 </a:t>
            </a:r>
            <a:r>
              <a:rPr lang="en-US" sz="1100" kern="100" dirty="0" err="1">
                <a:effectLst/>
                <a:latin typeface="Arial" panose="020B0604020202020204" pitchFamily="34" charset="0"/>
                <a:ea typeface="Aptos" panose="020B0004020202020204" pitchFamily="34" charset="0"/>
              </a:rPr>
              <a:t>μL</a:t>
            </a:r>
            <a:r>
              <a:rPr lang="en-US" sz="1100" kern="100" dirty="0">
                <a:effectLst/>
                <a:latin typeface="Arial" panose="020B0604020202020204" pitchFamily="34" charset="0"/>
                <a:ea typeface="Aptos" panose="020B0004020202020204" pitchFamily="34" charset="0"/>
              </a:rPr>
              <a:t> aliquot was taken from the plasma sample, heat inactivated at 56° C for 40 minutes, then centrifuged at 15,000 rpm for 10 minutes. The resulting supernatant was saved as the processed plasma sample. </a:t>
            </a:r>
          </a:p>
          <a:p>
            <a:pPr marL="228600" marR="0" indent="0">
              <a:lnSpc>
                <a:spcPct val="115000"/>
              </a:lnSpc>
              <a:buNone/>
            </a:pPr>
            <a:r>
              <a:rPr lang="en-US" sz="1100" kern="100" dirty="0">
                <a:effectLst/>
                <a:latin typeface="Arial" panose="020B0604020202020204" pitchFamily="34" charset="0"/>
                <a:ea typeface="Aptos" panose="020B0004020202020204" pitchFamily="34" charset="0"/>
              </a:rPr>
              <a:t> </a:t>
            </a:r>
          </a:p>
          <a:p>
            <a:pPr marL="228600" marR="0" indent="0">
              <a:lnSpc>
                <a:spcPct val="115000"/>
              </a:lnSpc>
              <a:buNone/>
            </a:pPr>
            <a:r>
              <a:rPr lang="en-US" sz="1100" kern="100" dirty="0">
                <a:effectLst/>
                <a:latin typeface="Arial" panose="020B0604020202020204" pitchFamily="34" charset="0"/>
                <a:ea typeface="Aptos" panose="020B0004020202020204" pitchFamily="34" charset="0"/>
              </a:rPr>
              <a:t>The neutralization assays were performed in five batches, consisting of five, six , eight, eight, and eight plates. To monitor batch effects, participant 02’s plasma samples for all three timepoints (d28, d56, and d365) were run with each batch as a batch control. </a:t>
            </a:r>
          </a:p>
          <a:p>
            <a:pPr marL="0" marR="0" indent="0">
              <a:lnSpc>
                <a:spcPct val="115000"/>
              </a:lnSpc>
              <a:buNone/>
            </a:pPr>
            <a:r>
              <a:rPr lang="en-US" sz="1100" kern="100" dirty="0">
                <a:effectLst/>
                <a:latin typeface="Arial" panose="020B0604020202020204" pitchFamily="34" charset="0"/>
                <a:ea typeface="Aptos" panose="020B0004020202020204" pitchFamily="34" charset="0"/>
              </a:rPr>
              <a:t>	</a:t>
            </a:r>
          </a:p>
          <a:p>
            <a:pPr marL="228600">
              <a:lnSpc>
                <a:spcPct val="115000"/>
              </a:lnSpc>
            </a:pPr>
            <a:r>
              <a:rPr lang="en-US" sz="1100" kern="100" dirty="0">
                <a:effectLst/>
                <a:latin typeface="Arial" panose="020B0604020202020204" pitchFamily="34" charset="0"/>
                <a:ea typeface="Aptos" panose="020B0004020202020204" pitchFamily="34" charset="0"/>
              </a:rPr>
              <a:t>24 hours prior to infection, black-wall, clear-bottom, poly-l-Lysine coated 96-well plates were seeded at a density of 30,000 293T cells per well. On the day of infection, 96-well setup plates were created, each containing two replicates of each of three plasma samples. The dilution series for each replicate consisted of eight steps of five-fold dilutions in D10 media (Dulbecco’s Modified Eagle Medium supplemented with 10% heat-inactivated fetal bovine serum, 2 mM l-glutamine, 100 U/mL penicillin, and 100 mg/mL streptomycin) supplemented with 4 </a:t>
            </a:r>
            <a:r>
              <a:rPr lang="en-US" sz="1100" kern="100" dirty="0" err="1">
                <a:effectLst/>
                <a:latin typeface="Arial" panose="020B0604020202020204" pitchFamily="34" charset="0"/>
                <a:ea typeface="Aptos" panose="020B0004020202020204" pitchFamily="34" charset="0"/>
              </a:rPr>
              <a:t>μg</a:t>
            </a:r>
            <a:r>
              <a:rPr lang="en-US" sz="1100" kern="100" dirty="0">
                <a:effectLst/>
                <a:latin typeface="Arial" panose="020B0604020202020204" pitchFamily="34" charset="0"/>
                <a:ea typeface="Aptos" panose="020B0004020202020204" pitchFamily="34" charset="0"/>
              </a:rPr>
              <a:t>/mL polybrene, beginning with an initial five-fold dilution of the heat inactivated plasma. The setup plates also contained a column of six Rabies G </a:t>
            </a:r>
            <a:r>
              <a:rPr lang="en-US" sz="1100" kern="100" dirty="0" err="1">
                <a:effectLst/>
                <a:latin typeface="Arial" panose="020B0604020202020204" pitchFamily="34" charset="0"/>
                <a:ea typeface="Aptos" panose="020B0004020202020204" pitchFamily="34" charset="0"/>
              </a:rPr>
              <a:t>pseudovirus</a:t>
            </a:r>
            <a:r>
              <a:rPr lang="en-US" sz="1100" kern="100" dirty="0">
                <a:effectLst/>
                <a:latin typeface="Arial" panose="020B0604020202020204" pitchFamily="34" charset="0"/>
                <a:ea typeface="Aptos" panose="020B0004020202020204" pitchFamily="34" charset="0"/>
              </a:rPr>
              <a:t>-only wells, located adjacent to the most dilute well of each dilution series. </a:t>
            </a:r>
          </a:p>
        </p:txBody>
      </p:sp>
      <p:sp>
        <p:nvSpPr>
          <p:cNvPr id="6" name="TextBox 5">
            <a:extLst>
              <a:ext uri="{FF2B5EF4-FFF2-40B4-BE49-F238E27FC236}">
                <a16:creationId xmlns:a16="http://schemas.microsoft.com/office/drawing/2014/main" id="{05DE1C47-0B25-733E-D0E2-E6D1493DBD14}"/>
              </a:ext>
            </a:extLst>
          </p:cNvPr>
          <p:cNvSpPr txBox="1"/>
          <p:nvPr/>
        </p:nvSpPr>
        <p:spPr>
          <a:xfrm>
            <a:off x="6093994" y="607192"/>
            <a:ext cx="6093994" cy="5714385"/>
          </a:xfrm>
          <a:prstGeom prst="rect">
            <a:avLst/>
          </a:prstGeom>
          <a:noFill/>
        </p:spPr>
        <p:txBody>
          <a:bodyPr wrap="square">
            <a:spAutoFit/>
          </a:bodyPr>
          <a:lstStyle/>
          <a:p>
            <a:pPr marL="228600" marR="0" indent="0">
              <a:lnSpc>
                <a:spcPct val="115000"/>
              </a:lnSpc>
              <a:buNone/>
            </a:pPr>
            <a:r>
              <a:rPr lang="en-US" sz="1100" kern="100" dirty="0">
                <a:effectLst/>
                <a:latin typeface="Arial" panose="020B0604020202020204" pitchFamily="34" charset="0"/>
                <a:ea typeface="Aptos" panose="020B0004020202020204" pitchFamily="34" charset="0"/>
              </a:rPr>
              <a:t>The outer rim of wells of the setup plates contained only D10 media supplemented with 4 </a:t>
            </a:r>
            <a:r>
              <a:rPr lang="en-US" sz="1100" kern="100" dirty="0" err="1">
                <a:effectLst/>
                <a:latin typeface="Arial" panose="020B0604020202020204" pitchFamily="34" charset="0"/>
                <a:ea typeface="Aptos" panose="020B0004020202020204" pitchFamily="34" charset="0"/>
              </a:rPr>
              <a:t>μg</a:t>
            </a:r>
            <a:r>
              <a:rPr lang="en-US" sz="1100" kern="100" dirty="0">
                <a:effectLst/>
                <a:latin typeface="Arial" panose="020B0604020202020204" pitchFamily="34" charset="0"/>
                <a:ea typeface="Aptos" panose="020B0004020202020204" pitchFamily="34" charset="0"/>
              </a:rPr>
              <a:t>/mL polybrene to reduce the effects of evaporation on the experimental wells. </a:t>
            </a:r>
            <a:r>
              <a:rPr lang="en-US" sz="1100" kern="100" dirty="0">
                <a:latin typeface="Arial" panose="020B0604020202020204" pitchFamily="34" charset="0"/>
                <a:ea typeface="Aptos" panose="020B0004020202020204" pitchFamily="34" charset="0"/>
              </a:rPr>
              <a:t>Rabies G </a:t>
            </a:r>
            <a:r>
              <a:rPr lang="en-US" sz="1100" kern="100" dirty="0" err="1">
                <a:latin typeface="Arial" panose="020B0604020202020204" pitchFamily="34" charset="0"/>
                <a:ea typeface="Aptos" panose="020B0004020202020204" pitchFamily="34" charset="0"/>
              </a:rPr>
              <a:t>pseudovirus</a:t>
            </a:r>
            <a:r>
              <a:rPr lang="en-US" sz="1100" kern="100" dirty="0">
                <a:effectLst/>
                <a:latin typeface="Arial" panose="020B0604020202020204" pitchFamily="34" charset="0"/>
                <a:ea typeface="Aptos" panose="020B0004020202020204" pitchFamily="34" charset="0"/>
              </a:rPr>
              <a:t> was diluted 33.33-fold in D10 media supplemented with 4 </a:t>
            </a:r>
            <a:r>
              <a:rPr lang="en-US" sz="1100" kern="100" dirty="0" err="1">
                <a:effectLst/>
                <a:latin typeface="Arial" panose="020B0604020202020204" pitchFamily="34" charset="0"/>
                <a:ea typeface="Aptos" panose="020B0004020202020204" pitchFamily="34" charset="0"/>
              </a:rPr>
              <a:t>μg</a:t>
            </a:r>
            <a:r>
              <a:rPr lang="en-US" sz="1100" kern="100" dirty="0">
                <a:effectLst/>
                <a:latin typeface="Arial" panose="020B0604020202020204" pitchFamily="34" charset="0"/>
                <a:ea typeface="Aptos" panose="020B0004020202020204" pitchFamily="34" charset="0"/>
              </a:rPr>
              <a:t>/mL polybrene, so a volume of </a:t>
            </a:r>
            <a:r>
              <a:rPr lang="en-US" sz="1100" kern="100" dirty="0">
                <a:latin typeface="Arial" panose="020B0604020202020204" pitchFamily="34" charset="0"/>
                <a:ea typeface="Aptos" panose="020B0004020202020204" pitchFamily="34" charset="0"/>
              </a:rPr>
              <a:t>60 </a:t>
            </a:r>
            <a:r>
              <a:rPr lang="en-US" sz="1100" kern="100" dirty="0" err="1">
                <a:latin typeface="Arial" panose="020B0604020202020204" pitchFamily="34" charset="0"/>
                <a:ea typeface="Aptos" panose="020B0004020202020204" pitchFamily="34" charset="0"/>
              </a:rPr>
              <a:t>μL</a:t>
            </a:r>
            <a:r>
              <a:rPr lang="en-US" sz="1100" kern="100" dirty="0">
                <a:latin typeface="Arial" panose="020B0604020202020204" pitchFamily="34" charset="0"/>
                <a:ea typeface="Aptos" panose="020B0004020202020204" pitchFamily="34" charset="0"/>
              </a:rPr>
              <a:t>, delivered to all wells except the border wells, would yield a signal in the range of 200,000 – 700,000 RLU.</a:t>
            </a:r>
            <a:r>
              <a:rPr lang="en-US" sz="1100" kern="100" dirty="0">
                <a:effectLst/>
                <a:latin typeface="Arial" panose="020B0604020202020204" pitchFamily="34" charset="0"/>
                <a:ea typeface="Aptos" panose="020B0004020202020204" pitchFamily="34" charset="0"/>
              </a:rPr>
              <a:t> The </a:t>
            </a:r>
            <a:r>
              <a:rPr lang="en-US" sz="1100" kern="100" dirty="0" err="1">
                <a:effectLst/>
                <a:latin typeface="Arial" panose="020B0604020202020204" pitchFamily="34" charset="0"/>
                <a:ea typeface="Aptos" panose="020B0004020202020204" pitchFamily="34" charset="0"/>
              </a:rPr>
              <a:t>pseudovirus</a:t>
            </a:r>
            <a:r>
              <a:rPr lang="en-US" sz="1100" kern="100" dirty="0">
                <a:effectLst/>
                <a:latin typeface="Arial" panose="020B0604020202020204" pitchFamily="34" charset="0"/>
                <a:ea typeface="Aptos" panose="020B0004020202020204" pitchFamily="34" charset="0"/>
              </a:rPr>
              <a:t> was delivered to all dilutions of a single plasma sample replicate and that replicate’s adjacent Rabies G </a:t>
            </a:r>
            <a:r>
              <a:rPr lang="en-US" sz="1100" kern="100" dirty="0" err="1">
                <a:effectLst/>
                <a:latin typeface="Arial" panose="020B0604020202020204" pitchFamily="34" charset="0"/>
                <a:ea typeface="Aptos" panose="020B0004020202020204" pitchFamily="34" charset="0"/>
              </a:rPr>
              <a:t>pseudovirus</a:t>
            </a:r>
            <a:r>
              <a:rPr lang="en-US" sz="1100" kern="100" dirty="0">
                <a:effectLst/>
                <a:latin typeface="Arial" panose="020B0604020202020204" pitchFamily="34" charset="0"/>
                <a:ea typeface="Aptos" panose="020B0004020202020204" pitchFamily="34" charset="0"/>
              </a:rPr>
              <a:t>-only well at the same time to ensure that each replicate had an associated </a:t>
            </a:r>
            <a:r>
              <a:rPr lang="en-US" sz="1100" kern="100" dirty="0" err="1">
                <a:effectLst/>
                <a:latin typeface="Arial" panose="020B0604020202020204" pitchFamily="34" charset="0"/>
                <a:ea typeface="Aptos" panose="020B0004020202020204" pitchFamily="34" charset="0"/>
              </a:rPr>
              <a:t>pseudovirus</a:t>
            </a:r>
            <a:r>
              <a:rPr lang="en-US" sz="1100" kern="100" dirty="0">
                <a:effectLst/>
                <a:latin typeface="Arial" panose="020B0604020202020204" pitchFamily="34" charset="0"/>
                <a:ea typeface="Aptos" panose="020B0004020202020204" pitchFamily="34" charset="0"/>
              </a:rPr>
              <a:t>-only well. After one hour of incubation at 37° C and 5% CO</a:t>
            </a:r>
            <a:r>
              <a:rPr lang="en-US" sz="1100" kern="100" baseline="-25000" dirty="0">
                <a:effectLst/>
                <a:latin typeface="Arial" panose="020B0604020202020204" pitchFamily="34" charset="0"/>
                <a:ea typeface="Aptos" panose="020B0004020202020204" pitchFamily="34" charset="0"/>
              </a:rPr>
              <a:t>2</a:t>
            </a:r>
            <a:r>
              <a:rPr lang="en-US" sz="1100" kern="100" dirty="0">
                <a:effectLst/>
                <a:latin typeface="Arial" panose="020B0604020202020204" pitchFamily="34" charset="0"/>
                <a:ea typeface="Aptos" panose="020B0004020202020204" pitchFamily="34" charset="0"/>
              </a:rPr>
              <a:t>, 100 </a:t>
            </a:r>
            <a:r>
              <a:rPr lang="en-US" sz="1100" kern="100" dirty="0" err="1">
                <a:effectLst/>
                <a:latin typeface="Arial" panose="020B0604020202020204" pitchFamily="34" charset="0"/>
                <a:ea typeface="Aptos" panose="020B0004020202020204" pitchFamily="34" charset="0"/>
              </a:rPr>
              <a:t>μL</a:t>
            </a:r>
            <a:r>
              <a:rPr lang="en-US" sz="1100" kern="100" dirty="0">
                <a:effectLst/>
                <a:latin typeface="Arial" panose="020B0604020202020204" pitchFamily="34" charset="0"/>
                <a:ea typeface="Aptos" panose="020B0004020202020204" pitchFamily="34" charset="0"/>
              </a:rPr>
              <a:t> from </a:t>
            </a:r>
            <a:r>
              <a:rPr lang="en-US" sz="1100" kern="100" dirty="0">
                <a:latin typeface="Arial" panose="020B0604020202020204" pitchFamily="34" charset="0"/>
                <a:ea typeface="Aptos" panose="020B0004020202020204" pitchFamily="34" charset="0"/>
              </a:rPr>
              <a:t>each</a:t>
            </a:r>
            <a:r>
              <a:rPr lang="en-US" sz="1100" kern="100" dirty="0">
                <a:effectLst/>
                <a:latin typeface="Arial" panose="020B0604020202020204" pitchFamily="34" charset="0"/>
                <a:ea typeface="Aptos" panose="020B0004020202020204" pitchFamily="34" charset="0"/>
              </a:rPr>
              <a:t> well of </a:t>
            </a:r>
            <a:r>
              <a:rPr lang="en-US" sz="1100" kern="100" dirty="0">
                <a:latin typeface="Arial" panose="020B0604020202020204" pitchFamily="34" charset="0"/>
                <a:ea typeface="Aptos" panose="020B0004020202020204" pitchFamily="34" charset="0"/>
              </a:rPr>
              <a:t>all</a:t>
            </a:r>
            <a:r>
              <a:rPr lang="en-US" sz="1100" kern="100" dirty="0">
                <a:effectLst/>
                <a:latin typeface="Arial" panose="020B0604020202020204" pitchFamily="34" charset="0"/>
                <a:ea typeface="Aptos" panose="020B0004020202020204" pitchFamily="34" charset="0"/>
              </a:rPr>
              <a:t> setup plates was transferred to the corresponding seeded cell plates, which </a:t>
            </a:r>
            <a:r>
              <a:rPr lang="en-US" sz="1100" kern="100" dirty="0">
                <a:latin typeface="Arial" panose="020B0604020202020204" pitchFamily="34" charset="0"/>
                <a:ea typeface="Aptos" panose="020B0004020202020204" pitchFamily="34" charset="0"/>
              </a:rPr>
              <a:t>were</a:t>
            </a:r>
            <a:r>
              <a:rPr lang="en-US" sz="1100" kern="100" dirty="0">
                <a:effectLst/>
                <a:latin typeface="Arial" panose="020B0604020202020204" pitchFamily="34" charset="0"/>
                <a:ea typeface="Aptos" panose="020B0004020202020204" pitchFamily="34" charset="0"/>
              </a:rPr>
              <a:t> incubated for 48 hours at 37° C and 5% CO</a:t>
            </a:r>
            <a:r>
              <a:rPr lang="en-US" sz="1100" kern="100" baseline="-25000" dirty="0">
                <a:effectLst/>
                <a:latin typeface="Arial" panose="020B0604020202020204" pitchFamily="34" charset="0"/>
                <a:ea typeface="Aptos" panose="020B0004020202020204" pitchFamily="34" charset="0"/>
              </a:rPr>
              <a:t>2</a:t>
            </a:r>
            <a:r>
              <a:rPr lang="en-US" sz="1100" kern="100" dirty="0">
                <a:effectLst/>
                <a:latin typeface="Arial" panose="020B0604020202020204" pitchFamily="34" charset="0"/>
                <a:ea typeface="Aptos" panose="020B0004020202020204" pitchFamily="34" charset="0"/>
              </a:rPr>
              <a:t>. </a:t>
            </a:r>
          </a:p>
          <a:p>
            <a:pPr marL="228600" marR="0" indent="0">
              <a:lnSpc>
                <a:spcPct val="115000"/>
              </a:lnSpc>
              <a:buNone/>
            </a:pPr>
            <a:r>
              <a:rPr lang="en-US" sz="1100" kern="100" dirty="0">
                <a:effectLst/>
                <a:latin typeface="Arial" panose="020B0604020202020204" pitchFamily="34" charset="0"/>
                <a:ea typeface="Aptos" panose="020B0004020202020204" pitchFamily="34" charset="0"/>
              </a:rPr>
              <a:t> </a:t>
            </a:r>
          </a:p>
          <a:p>
            <a:pPr marL="228600" marR="0" indent="0">
              <a:lnSpc>
                <a:spcPct val="115000"/>
              </a:lnSpc>
              <a:spcAft>
                <a:spcPts val="800"/>
              </a:spcAft>
              <a:buNone/>
            </a:pPr>
            <a:r>
              <a:rPr lang="en-US" sz="1100" kern="100" dirty="0">
                <a:effectLst/>
                <a:latin typeface="Arial" panose="020B0604020202020204" pitchFamily="34" charset="0"/>
                <a:ea typeface="Aptos" panose="020B0004020202020204" pitchFamily="34" charset="0"/>
              </a:rPr>
              <a:t>After 48 hours of incubation, RLU values were measured using the  Bright-Glo Luciferase Assay System. 120 </a:t>
            </a:r>
            <a:r>
              <a:rPr lang="en-US" sz="1100" kern="100" dirty="0" err="1">
                <a:effectLst/>
                <a:latin typeface="Arial" panose="020B0604020202020204" pitchFamily="34" charset="0"/>
                <a:ea typeface="Aptos" panose="020B0004020202020204" pitchFamily="34" charset="0"/>
              </a:rPr>
              <a:t>μL</a:t>
            </a:r>
            <a:r>
              <a:rPr lang="en-US" sz="1100" kern="100" dirty="0">
                <a:effectLst/>
                <a:latin typeface="Arial" panose="020B0604020202020204" pitchFamily="34" charset="0"/>
                <a:ea typeface="Aptos" panose="020B0004020202020204" pitchFamily="34" charset="0"/>
              </a:rPr>
              <a:t> of media was aspirated from each well (leaving an estimated 50 </a:t>
            </a:r>
            <a:r>
              <a:rPr lang="en-US" sz="1100" kern="100" dirty="0" err="1">
                <a:effectLst/>
                <a:latin typeface="Arial" panose="020B0604020202020204" pitchFamily="34" charset="0"/>
                <a:ea typeface="Aptos" panose="020B0004020202020204" pitchFamily="34" charset="0"/>
              </a:rPr>
              <a:t>μL</a:t>
            </a:r>
            <a:r>
              <a:rPr lang="en-US" sz="1100" kern="100" dirty="0">
                <a:effectLst/>
                <a:latin typeface="Arial" panose="020B0604020202020204" pitchFamily="34" charset="0"/>
                <a:ea typeface="Aptos" panose="020B0004020202020204" pitchFamily="34" charset="0"/>
              </a:rPr>
              <a:t> in each well after accounting for evaporation), then 50 </a:t>
            </a:r>
            <a:r>
              <a:rPr lang="en-US" sz="1100" kern="100" dirty="0" err="1">
                <a:effectLst/>
                <a:latin typeface="Arial" panose="020B0604020202020204" pitchFamily="34" charset="0"/>
                <a:ea typeface="Aptos" panose="020B0004020202020204" pitchFamily="34" charset="0"/>
              </a:rPr>
              <a:t>μL</a:t>
            </a:r>
            <a:r>
              <a:rPr lang="en-US" sz="1100" kern="100" dirty="0">
                <a:effectLst/>
                <a:latin typeface="Arial" panose="020B0604020202020204" pitchFamily="34" charset="0"/>
                <a:ea typeface="Aptos" panose="020B0004020202020204" pitchFamily="34" charset="0"/>
              </a:rPr>
              <a:t> of Bright-Glo was added to each well. After the back of the plate was stickered to reduce luminescence bleeding from well to well, a plate reader was used to measure luciferase activity. For each concentration of each plasma sample replicate, the fraction infectivity was calculated by dividing the well’s RLU value by the RLU value of that replicate’s associated Rabies G </a:t>
            </a:r>
            <a:r>
              <a:rPr lang="en-US" sz="1100" kern="100" dirty="0" err="1">
                <a:effectLst/>
                <a:latin typeface="Arial" panose="020B0604020202020204" pitchFamily="34" charset="0"/>
                <a:ea typeface="Aptos" panose="020B0004020202020204" pitchFamily="34" charset="0"/>
              </a:rPr>
              <a:t>pseudovirus</a:t>
            </a:r>
            <a:r>
              <a:rPr lang="en-US" sz="1100" kern="100" dirty="0">
                <a:effectLst/>
                <a:latin typeface="Arial" panose="020B0604020202020204" pitchFamily="34" charset="0"/>
                <a:ea typeface="Aptos" panose="020B0004020202020204" pitchFamily="34" charset="0"/>
              </a:rPr>
              <a:t>-only well. Neutralization curves and IC50 values were generated from the averaged fraction infectivity values of replicates using </a:t>
            </a:r>
            <a:r>
              <a:rPr lang="en-US" sz="1100" kern="100" dirty="0">
                <a:latin typeface="Arial" panose="020B0604020202020204" pitchFamily="34" charset="0"/>
                <a:ea typeface="Aptos" panose="020B0004020202020204" pitchFamily="34" charset="0"/>
              </a:rPr>
              <a:t>the </a:t>
            </a:r>
            <a:r>
              <a:rPr lang="en-US" sz="1100" kern="100" dirty="0" err="1">
                <a:latin typeface="Arial" panose="020B0604020202020204" pitchFamily="34" charset="0"/>
                <a:ea typeface="Aptos" panose="020B0004020202020204" pitchFamily="34" charset="0"/>
              </a:rPr>
              <a:t>neutcurve</a:t>
            </a:r>
            <a:r>
              <a:rPr lang="en-US" sz="1100" kern="100" dirty="0">
                <a:latin typeface="Arial" panose="020B0604020202020204" pitchFamily="34" charset="0"/>
                <a:ea typeface="Aptos" panose="020B0004020202020204" pitchFamily="34" charset="0"/>
              </a:rPr>
              <a:t> package</a:t>
            </a:r>
            <a:r>
              <a:rPr lang="en-US" sz="1100" kern="100" baseline="30000" dirty="0">
                <a:latin typeface="Arial" panose="020B0604020202020204" pitchFamily="34" charset="0"/>
                <a:ea typeface="Aptos" panose="020B0004020202020204" pitchFamily="34" charset="0"/>
              </a:rPr>
              <a:t>2 </a:t>
            </a:r>
            <a:r>
              <a:rPr lang="en-US" sz="1100" kern="100" dirty="0">
                <a:latin typeface="Arial" panose="020B0604020202020204" pitchFamily="34" charset="0"/>
                <a:ea typeface="Aptos" panose="020B0004020202020204" pitchFamily="34" charset="0"/>
              </a:rPr>
              <a:t>(</a:t>
            </a:r>
            <a:r>
              <a:rPr lang="en-US" sz="1100" kern="100" dirty="0">
                <a:latin typeface="Arial" panose="020B0604020202020204" pitchFamily="34" charset="0"/>
                <a:ea typeface="Aptos" panose="020B0004020202020204" pitchFamily="34" charset="0"/>
                <a:hlinkClick r:id="rId4">
                  <a:extLst>
                    <a:ext uri="{A12FA001-AC4F-418D-AE19-62706E023703}">
                      <ahyp:hlinkClr xmlns:ahyp="http://schemas.microsoft.com/office/drawing/2018/hyperlinkcolor" val="tx"/>
                    </a:ext>
                  </a:extLst>
                </a:hlinkClick>
              </a:rPr>
              <a:t>https://github.com/jbloomlab/neutcurve</a:t>
            </a:r>
            <a:r>
              <a:rPr lang="en-US" sz="1100" kern="100" dirty="0">
                <a:latin typeface="Arial" panose="020B0604020202020204" pitchFamily="34" charset="0"/>
                <a:ea typeface="Aptos" panose="020B0004020202020204" pitchFamily="34" charset="0"/>
              </a:rPr>
              <a:t>). </a:t>
            </a:r>
            <a:endParaRPr lang="en-US" sz="1100" kern="100" dirty="0">
              <a:effectLst/>
              <a:latin typeface="Arial" panose="020B0604020202020204" pitchFamily="34" charset="0"/>
              <a:ea typeface="Aptos" panose="020B0004020202020204" pitchFamily="34" charset="0"/>
            </a:endParaRPr>
          </a:p>
          <a:p>
            <a:pPr marL="800100" lvl="1" indent="-342900">
              <a:spcAft>
                <a:spcPts val="800"/>
              </a:spcAft>
              <a:buFont typeface="+mj-lt"/>
              <a:buAutoNum type="arabicPeriod"/>
            </a:pPr>
            <a:r>
              <a:rPr lang="en-US" sz="1100" kern="100" dirty="0" err="1">
                <a:effectLst/>
                <a:latin typeface="Arial" panose="020B0604020202020204" pitchFamily="34" charset="0"/>
                <a:ea typeface="Aptos" panose="020B0004020202020204" pitchFamily="34" charset="0"/>
              </a:rPr>
              <a:t>Aditham</a:t>
            </a:r>
            <a:r>
              <a:rPr lang="en-US" sz="1100" kern="100" dirty="0">
                <a:effectLst/>
                <a:latin typeface="Arial" panose="020B0604020202020204" pitchFamily="34" charset="0"/>
                <a:ea typeface="Aptos" panose="020B0004020202020204" pitchFamily="34" charset="0"/>
              </a:rPr>
              <a:t> A.K., Radford C.E., Carr C.R., Jasti N., King N.P., Bloom J.D.. Deep mutational scanning of rabies glycoprotein defines mutational constraint and antibody-escape mutations. </a:t>
            </a:r>
            <a:r>
              <a:rPr lang="en-US" sz="1100" i="1" kern="100" dirty="0">
                <a:effectLst/>
                <a:latin typeface="Arial" panose="020B0604020202020204" pitchFamily="34" charset="0"/>
                <a:ea typeface="Aptos" panose="020B0004020202020204" pitchFamily="34" charset="0"/>
              </a:rPr>
              <a:t>Cell Host Microbe</a:t>
            </a:r>
            <a:r>
              <a:rPr lang="en-US" sz="1100" kern="100" dirty="0">
                <a:effectLst/>
                <a:latin typeface="Arial" panose="020B0604020202020204" pitchFamily="34" charset="0"/>
                <a:ea typeface="Aptos" panose="020B0004020202020204" pitchFamily="34" charset="0"/>
              </a:rPr>
              <a:t>, 33 (2025), pp. 988-1003, </a:t>
            </a:r>
            <a:r>
              <a:rPr lang="en-US" sz="1100" kern="100" dirty="0">
                <a:effectLst/>
                <a:latin typeface="Arial" panose="020B0604020202020204" pitchFamily="34" charset="0"/>
                <a:ea typeface="Aptos" panose="020B0004020202020204" pitchFamily="34" charset="0"/>
                <a:hlinkClick r:id="rId5">
                  <a:extLst>
                    <a:ext uri="{A12FA001-AC4F-418D-AE19-62706E023703}">
                      <ahyp:hlinkClr xmlns:ahyp="http://schemas.microsoft.com/office/drawing/2018/hyperlinkcolor" val="tx"/>
                    </a:ext>
                  </a:extLst>
                </a:hlinkClick>
              </a:rPr>
              <a:t>https://doi.org/10.1016/j.chom.2025.04.018</a:t>
            </a:r>
            <a:r>
              <a:rPr lang="en-US" sz="1100" kern="100" dirty="0">
                <a:effectLst/>
                <a:latin typeface="Arial" panose="020B0604020202020204" pitchFamily="34" charset="0"/>
                <a:ea typeface="Aptos" panose="020B0004020202020204" pitchFamily="34" charset="0"/>
              </a:rPr>
              <a:t>. </a:t>
            </a:r>
          </a:p>
          <a:p>
            <a:pPr marL="800100" lvl="1" indent="-342900">
              <a:spcAft>
                <a:spcPts val="800"/>
              </a:spcAft>
              <a:buFont typeface="+mj-lt"/>
              <a:buAutoNum type="arabicPeriod"/>
            </a:pPr>
            <a:r>
              <a:rPr lang="en-US" sz="1100" kern="100" dirty="0" err="1">
                <a:latin typeface="Arial" panose="020B0604020202020204" pitchFamily="34" charset="0"/>
                <a:ea typeface="Aptos" panose="020B0004020202020204" pitchFamily="34" charset="0"/>
              </a:rPr>
              <a:t>Loes</a:t>
            </a:r>
            <a:r>
              <a:rPr lang="en-US" sz="1100" kern="100" dirty="0">
                <a:latin typeface="Arial" panose="020B0604020202020204" pitchFamily="34" charset="0"/>
                <a:ea typeface="Aptos" panose="020B0004020202020204" pitchFamily="34" charset="0"/>
              </a:rPr>
              <a:t> AN, Tarabi RAL, Huddleston J, </a:t>
            </a:r>
            <a:r>
              <a:rPr lang="en-US" sz="1100" kern="100" dirty="0" err="1">
                <a:latin typeface="Arial" panose="020B0604020202020204" pitchFamily="34" charset="0"/>
                <a:ea typeface="Aptos" panose="020B0004020202020204" pitchFamily="34" charset="0"/>
              </a:rPr>
              <a:t>Touyon</a:t>
            </a:r>
            <a:r>
              <a:rPr lang="en-US" sz="1100" kern="100" dirty="0">
                <a:latin typeface="Arial" panose="020B0604020202020204" pitchFamily="34" charset="0"/>
                <a:ea typeface="Aptos" panose="020B0004020202020204" pitchFamily="34" charset="0"/>
              </a:rPr>
              <a:t> L, Wong SS, Cheng SMS, Leung NHL, Hannon WW, Bedford T, Cobey S, Cowling BJ, Bloom JD.2024. High-throughput sequencing-based neutralization assay reveals how repeated vaccinations impact titers to recent human H1N1 influenza strains. </a:t>
            </a:r>
            <a:r>
              <a:rPr lang="en-US" sz="1100" i="1" kern="100" dirty="0">
                <a:latin typeface="Arial" panose="020B0604020202020204" pitchFamily="34" charset="0"/>
                <a:ea typeface="Aptos" panose="020B0004020202020204" pitchFamily="34" charset="0"/>
              </a:rPr>
              <a:t>J. </a:t>
            </a:r>
            <a:r>
              <a:rPr lang="en-US" sz="1100" i="1" kern="100" dirty="0" err="1">
                <a:latin typeface="Arial" panose="020B0604020202020204" pitchFamily="34" charset="0"/>
                <a:ea typeface="Aptos" panose="020B0004020202020204" pitchFamily="34" charset="0"/>
              </a:rPr>
              <a:t>Virol</a:t>
            </a:r>
            <a:r>
              <a:rPr lang="en-US" sz="1100" i="1" kern="100" dirty="0">
                <a:latin typeface="Arial" panose="020B0604020202020204" pitchFamily="34" charset="0"/>
                <a:ea typeface="Aptos" panose="020B0004020202020204" pitchFamily="34" charset="0"/>
              </a:rPr>
              <a:t>., </a:t>
            </a:r>
            <a:r>
              <a:rPr lang="en-US" sz="1100" kern="100" dirty="0">
                <a:latin typeface="Arial" panose="020B0604020202020204" pitchFamily="34" charset="0"/>
                <a:ea typeface="Aptos" panose="020B0004020202020204" pitchFamily="34" charset="0"/>
              </a:rPr>
              <a:t>98 (2024) e0068924, </a:t>
            </a:r>
            <a:r>
              <a:rPr lang="en-US" sz="1100" kern="100" dirty="0">
                <a:latin typeface="Arial" panose="020B0604020202020204" pitchFamily="34" charset="0"/>
                <a:ea typeface="Aptos" panose="020B0004020202020204" pitchFamily="34" charset="0"/>
                <a:hlinkClick r:id="rId6">
                  <a:extLst>
                    <a:ext uri="{A12FA001-AC4F-418D-AE19-62706E023703}">
                      <ahyp:hlinkClr xmlns:ahyp="http://schemas.microsoft.com/office/drawing/2018/hyperlinkcolor" val="tx"/>
                    </a:ext>
                  </a:extLst>
                </a:hlinkClick>
              </a:rPr>
              <a:t>https://doi.org/10.1128/jvi.00689-24</a:t>
            </a:r>
            <a:r>
              <a:rPr lang="en-US" sz="1100" kern="100" dirty="0">
                <a:latin typeface="Arial" panose="020B0604020202020204" pitchFamily="34" charset="0"/>
                <a:ea typeface="Aptos" panose="020B0004020202020204" pitchFamily="34" charset="0"/>
              </a:rPr>
              <a:t>  </a:t>
            </a:r>
            <a:endParaRPr lang="en-US" sz="1100" kern="100" dirty="0">
              <a:effectLst/>
              <a:latin typeface="Arial" panose="020B0604020202020204" pitchFamily="34" charset="0"/>
              <a:ea typeface="Aptos" panose="020B0004020202020204" pitchFamily="34" charset="0"/>
            </a:endParaRPr>
          </a:p>
        </p:txBody>
      </p:sp>
      <p:sp>
        <p:nvSpPr>
          <p:cNvPr id="7" name="TextBox 6">
            <a:extLst>
              <a:ext uri="{FF2B5EF4-FFF2-40B4-BE49-F238E27FC236}">
                <a16:creationId xmlns:a16="http://schemas.microsoft.com/office/drawing/2014/main" id="{399C4B01-7ACB-73EB-1748-028CAA74BEB7}"/>
              </a:ext>
            </a:extLst>
          </p:cNvPr>
          <p:cNvSpPr txBox="1"/>
          <p:nvPr/>
        </p:nvSpPr>
        <p:spPr>
          <a:xfrm>
            <a:off x="4630890" y="135354"/>
            <a:ext cx="2926208" cy="461665"/>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Summary Methods</a:t>
            </a:r>
          </a:p>
        </p:txBody>
      </p:sp>
    </p:spTree>
    <p:extLst>
      <p:ext uri="{BB962C8B-B14F-4D97-AF65-F5344CB8AC3E}">
        <p14:creationId xmlns:p14="http://schemas.microsoft.com/office/powerpoint/2010/main" val="451906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B488-E7EF-C78F-C8A9-3BA11A3F038D}"/>
              </a:ext>
            </a:extLst>
          </p:cNvPr>
          <p:cNvSpPr>
            <a:spLocks noGrp="1"/>
          </p:cNvSpPr>
          <p:nvPr>
            <p:ph type="title"/>
          </p:nvPr>
        </p:nvSpPr>
        <p:spPr>
          <a:xfrm>
            <a:off x="2620612" y="327374"/>
            <a:ext cx="2427238" cy="480148"/>
          </a:xfrm>
          <a:ln>
            <a:solidFill>
              <a:schemeClr val="tx1"/>
            </a:solidFill>
          </a:ln>
        </p:spPr>
        <p:txBody>
          <a:bodyPr>
            <a:normAutofit/>
          </a:bodyPr>
          <a:lstStyle/>
          <a:p>
            <a:r>
              <a:rPr lang="en-US" sz="2400" b="1" dirty="0">
                <a:latin typeface="Arial" panose="020B0604020202020204" pitchFamily="34" charset="0"/>
                <a:cs typeface="Arial" panose="020B0604020202020204" pitchFamily="34" charset="0"/>
              </a:rPr>
              <a:t>Batch variation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46CDC03-D16C-E4D1-BB0B-9F49BA6E51F8}"/>
                  </a:ext>
                </a:extLst>
              </p:cNvPr>
              <p:cNvSpPr>
                <a:spLocks noGrp="1"/>
              </p:cNvSpPr>
              <p:nvPr>
                <p:ph idx="1"/>
              </p:nvPr>
            </p:nvSpPr>
            <p:spPr>
              <a:xfrm>
                <a:off x="355980" y="718319"/>
                <a:ext cx="6956502" cy="4962284"/>
              </a:xfrm>
            </p:spPr>
            <p:txBody>
              <a:bodyPr>
                <a:noAutofit/>
              </a:bodyPr>
              <a:lstStyle/>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Caelan’s original neutralization curves were discarded because there was not enough </a:t>
                </a:r>
                <a:r>
                  <a:rPr lang="en-US" sz="1600" dirty="0" err="1">
                    <a:latin typeface="Arial" panose="020B0604020202020204" pitchFamily="34" charset="0"/>
                    <a:cs typeface="Arial" panose="020B0604020202020204" pitchFamily="34" charset="0"/>
                  </a:rPr>
                  <a:t>pseudovirus</a:t>
                </a:r>
                <a:r>
                  <a:rPr lang="en-US" sz="1600" dirty="0">
                    <a:latin typeface="Arial" panose="020B0604020202020204" pitchFamily="34" charset="0"/>
                    <a:cs typeface="Arial" panose="020B0604020202020204" pitchFamily="34" charset="0"/>
                  </a:rPr>
                  <a:t> from the first Rabies G </a:t>
                </a:r>
                <a:r>
                  <a:rPr lang="en-US" sz="1600" dirty="0" err="1">
                    <a:latin typeface="Arial" panose="020B0604020202020204" pitchFamily="34" charset="0"/>
                    <a:cs typeface="Arial" panose="020B0604020202020204" pitchFamily="34" charset="0"/>
                  </a:rPr>
                  <a:t>pseudovirus</a:t>
                </a:r>
                <a:r>
                  <a:rPr lang="en-US" sz="1600" dirty="0">
                    <a:latin typeface="Arial" panose="020B0604020202020204" pitchFamily="34" charset="0"/>
                    <a:cs typeface="Arial" panose="020B0604020202020204" pitchFamily="34" charset="0"/>
                  </a:rPr>
                  <a:t> harvest to complete all of the neutralization assays, and batch effects were observed between batches that used different virus harvests. </a:t>
                </a:r>
              </a:p>
              <a:p>
                <a:r>
                  <a:rPr lang="en-US" sz="1600" dirty="0">
                    <a:latin typeface="Arial" panose="020B0604020202020204" pitchFamily="34" charset="0"/>
                    <a:cs typeface="Arial" panose="020B0604020202020204" pitchFamily="34" charset="0"/>
                  </a:rPr>
                  <a:t>The neutralization assays were performed across 5 batches, so a batch control was included to monitor any batch effects. Participant 02 was selected as the batch control, and plasma for all three timepoints from this participant were run with each batch.  </a:t>
                </a:r>
              </a:p>
              <a:p>
                <a:r>
                  <a:rPr lang="en-US" sz="1600" dirty="0">
                    <a:latin typeface="Arial" panose="020B0604020202020204" pitchFamily="34" charset="0"/>
                    <a:cs typeface="Arial" panose="020B0604020202020204" pitchFamily="34" charset="0"/>
                  </a:rPr>
                  <a:t>The three cohorts’ samples were spread across the batches to allow any batch effects to average out. </a:t>
                </a:r>
              </a:p>
              <a:p>
                <a:r>
                  <a:rPr lang="en-US" sz="1600" dirty="0">
                    <a:latin typeface="Arial" panose="020B0604020202020204" pitchFamily="34" charset="0"/>
                    <a:cs typeface="Arial" panose="020B0604020202020204" pitchFamily="34" charset="0"/>
                  </a:rPr>
                  <a:t>There is significant batch-to-batch variation in the batch control data, possibly due to a pH sensitivity issue with the virus. </a:t>
                </a:r>
              </a:p>
              <a:p>
                <a:r>
                  <a:rPr lang="en-US" sz="1600" dirty="0">
                    <a:latin typeface="Arial" panose="020B0604020202020204" pitchFamily="34" charset="0"/>
                    <a:cs typeface="Arial" panose="020B0604020202020204" pitchFamily="34" charset="0"/>
                  </a:rPr>
                  <a:t>To attempt to further eradicate the batch effects, each IC50 value was normalized to its corresponding batch control (02-d28) IC50 from the same batch. Normalization was achieved by dividing each IC50 from a given batch by that batch’s 02-d28 IC50 value. </a:t>
                </a:r>
              </a:p>
              <a:p>
                <a:pPr lvl="1"/>
                <a14:m>
                  <m:oMath xmlns:m="http://schemas.openxmlformats.org/officeDocument/2006/math">
                    <m:r>
                      <m:rPr>
                        <m:sty m:val="p"/>
                      </m:rPr>
                      <a:rPr lang="en-US" sz="1600">
                        <a:latin typeface="Cambria Math" panose="02040503050406030204" pitchFamily="18" charset="0"/>
                        <a:cs typeface="Arial" panose="020B0604020202020204" pitchFamily="34" charset="0"/>
                      </a:rPr>
                      <m:t>N</m:t>
                    </m:r>
                    <m:r>
                      <m:rPr>
                        <m:sty m:val="p"/>
                      </m:rPr>
                      <a:rPr lang="en-US" sz="1600" b="0" i="0" smtClean="0">
                        <a:latin typeface="Cambria Math" panose="02040503050406030204" pitchFamily="18" charset="0"/>
                        <a:cs typeface="Arial" panose="020B0604020202020204" pitchFamily="34" charset="0"/>
                      </a:rPr>
                      <m:t>ormalized</m:t>
                    </m:r>
                    <m:r>
                      <a:rPr lang="en-US" sz="1600" b="0" i="0" smtClean="0">
                        <a:latin typeface="Cambria Math" panose="02040503050406030204" pitchFamily="18" charset="0"/>
                        <a:cs typeface="Arial" panose="020B0604020202020204" pitchFamily="34" charset="0"/>
                      </a:rPr>
                      <m:t> </m:t>
                    </m:r>
                    <m:r>
                      <m:rPr>
                        <m:sty m:val="p"/>
                      </m:rPr>
                      <a:rPr lang="en-US" sz="1600" b="0" i="0" smtClean="0">
                        <a:latin typeface="Cambria Math" panose="02040503050406030204" pitchFamily="18" charset="0"/>
                        <a:cs typeface="Arial" panose="020B0604020202020204" pitchFamily="34" charset="0"/>
                      </a:rPr>
                      <m:t>IC</m:t>
                    </m:r>
                    <m:r>
                      <a:rPr lang="en-US" sz="1600" b="0" i="0" smtClean="0">
                        <a:latin typeface="Cambria Math" panose="02040503050406030204" pitchFamily="18" charset="0"/>
                        <a:cs typeface="Arial" panose="020B0604020202020204" pitchFamily="34" charset="0"/>
                      </a:rPr>
                      <m:t>50</m:t>
                    </m:r>
                    <m:r>
                      <m:rPr>
                        <m:sty m:val="p"/>
                      </m:rPr>
                      <a:rPr lang="en-US" sz="1600" b="0" i="0" baseline="-25000" smtClean="0">
                        <a:latin typeface="Cambria Math" panose="02040503050406030204" pitchFamily="18" charset="0"/>
                        <a:cs typeface="Arial" panose="020B0604020202020204" pitchFamily="34" charset="0"/>
                      </a:rPr>
                      <m:t>participant</m:t>
                    </m:r>
                    <m:r>
                      <a:rPr lang="en-US" sz="1600" b="0" i="0" baseline="-25000" smtClean="0">
                        <a:latin typeface="Cambria Math" panose="02040503050406030204" pitchFamily="18" charset="0"/>
                        <a:cs typeface="Arial" panose="020B0604020202020204" pitchFamily="34" charset="0"/>
                      </a:rPr>
                      <m:t> </m:t>
                    </m:r>
                    <m:r>
                      <m:rPr>
                        <m:sty m:val="p"/>
                      </m:rPr>
                      <a:rPr lang="en-US" sz="1600" b="0" i="0" baseline="-25000" smtClean="0">
                        <a:latin typeface="Cambria Math" panose="02040503050406030204" pitchFamily="18" charset="0"/>
                        <a:cs typeface="Arial" panose="020B0604020202020204" pitchFamily="34" charset="0"/>
                      </a:rPr>
                      <m:t>x</m:t>
                    </m:r>
                    <m:r>
                      <a:rPr lang="en-US" sz="1600" b="0" i="0" baseline="-25000" smtClean="0">
                        <a:latin typeface="Cambria Math" panose="02040503050406030204" pitchFamily="18" charset="0"/>
                        <a:cs typeface="Arial" panose="020B0604020202020204" pitchFamily="34" charset="0"/>
                      </a:rPr>
                      <m:t> </m:t>
                    </m:r>
                    <m:r>
                      <m:rPr>
                        <m:sty m:val="p"/>
                      </m:rPr>
                      <a:rPr lang="en-US" sz="1600" b="0" i="0" baseline="-25000" smtClean="0">
                        <a:latin typeface="Cambria Math" panose="02040503050406030204" pitchFamily="18" charset="0"/>
                        <a:cs typeface="Arial" panose="020B0604020202020204" pitchFamily="34" charset="0"/>
                      </a:rPr>
                      <m:t>in</m:t>
                    </m:r>
                    <m:r>
                      <a:rPr lang="en-US" sz="1600" b="0" i="0" baseline="-25000" smtClean="0">
                        <a:latin typeface="Cambria Math" panose="02040503050406030204" pitchFamily="18" charset="0"/>
                        <a:cs typeface="Arial" panose="020B0604020202020204" pitchFamily="34" charset="0"/>
                      </a:rPr>
                      <m:t> </m:t>
                    </m:r>
                    <m:r>
                      <m:rPr>
                        <m:sty m:val="p"/>
                      </m:rPr>
                      <a:rPr lang="en-US" sz="1600" b="0" i="0" baseline="-25000" smtClean="0">
                        <a:latin typeface="Cambria Math" panose="02040503050406030204" pitchFamily="18" charset="0"/>
                        <a:cs typeface="Arial" panose="020B0604020202020204" pitchFamily="34" charset="0"/>
                      </a:rPr>
                      <m:t>batch</m:t>
                    </m:r>
                    <m:r>
                      <a:rPr lang="en-US" sz="1600" b="0" i="0" baseline="-25000" smtClean="0">
                        <a:latin typeface="Cambria Math" panose="02040503050406030204" pitchFamily="18" charset="0"/>
                        <a:cs typeface="Arial" panose="020B0604020202020204" pitchFamily="34" charset="0"/>
                      </a:rPr>
                      <m:t> </m:t>
                    </m:r>
                    <m:r>
                      <m:rPr>
                        <m:sty m:val="p"/>
                      </m:rPr>
                      <a:rPr lang="en-US" sz="1600" b="0" i="0" baseline="-25000" smtClean="0">
                        <a:latin typeface="Cambria Math" panose="02040503050406030204" pitchFamily="18" charset="0"/>
                        <a:cs typeface="Arial" panose="020B0604020202020204" pitchFamily="34" charset="0"/>
                      </a:rPr>
                      <m:t>y</m:t>
                    </m:r>
                    <m:r>
                      <a:rPr lang="en-US" sz="1600" b="0" i="0" baseline="-25000"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 </m:t>
                    </m:r>
                    <m:f>
                      <m:fPr>
                        <m:ctrlPr>
                          <a:rPr lang="en-US" sz="1600" b="0" i="1" smtClean="0">
                            <a:latin typeface="Cambria Math" panose="02040503050406030204" pitchFamily="18" charset="0"/>
                            <a:cs typeface="Arial" panose="020B0604020202020204" pitchFamily="34" charset="0"/>
                          </a:rPr>
                        </m:ctrlPr>
                      </m:fPr>
                      <m:num>
                        <m:sSub>
                          <m:sSubPr>
                            <m:ctrlPr>
                              <a:rPr lang="en-US" sz="1600" b="0" i="1" smtClean="0">
                                <a:latin typeface="Cambria Math" panose="02040503050406030204" pitchFamily="18" charset="0"/>
                                <a:cs typeface="Arial" panose="020B0604020202020204" pitchFamily="34" charset="0"/>
                              </a:rPr>
                            </m:ctrlPr>
                          </m:sSubPr>
                          <m:e>
                            <m:r>
                              <m:rPr>
                                <m:sty m:val="p"/>
                              </m:rPr>
                              <a:rPr lang="en-US" sz="1600" b="0" i="0" smtClean="0">
                                <a:latin typeface="Cambria Math" panose="02040503050406030204" pitchFamily="18" charset="0"/>
                                <a:cs typeface="Arial" panose="020B0604020202020204" pitchFamily="34" charset="0"/>
                              </a:rPr>
                              <m:t>IC</m:t>
                            </m:r>
                            <m:r>
                              <a:rPr lang="en-US" sz="1600" b="0" i="0" smtClean="0">
                                <a:latin typeface="Cambria Math" panose="02040503050406030204" pitchFamily="18" charset="0"/>
                                <a:cs typeface="Arial" panose="020B0604020202020204" pitchFamily="34" charset="0"/>
                              </a:rPr>
                              <m:t>50</m:t>
                            </m:r>
                          </m:e>
                          <m:sub>
                            <m:r>
                              <a:rPr lang="en-US" sz="1600" b="0" i="1" smtClean="0">
                                <a:latin typeface="Cambria Math" panose="02040503050406030204" pitchFamily="18" charset="0"/>
                                <a:cs typeface="Arial" panose="020B0604020202020204" pitchFamily="34" charset="0"/>
                              </a:rPr>
                              <m:t>𝑥</m:t>
                            </m:r>
                          </m:sub>
                        </m:sSub>
                      </m:num>
                      <m:den>
                        <m:sSub>
                          <m:sSubPr>
                            <m:ctrlPr>
                              <a:rPr lang="en-US" sz="1600" b="0" i="1" smtClean="0">
                                <a:latin typeface="Cambria Math" panose="02040503050406030204" pitchFamily="18" charset="0"/>
                                <a:cs typeface="Arial" panose="020B0604020202020204" pitchFamily="34" charset="0"/>
                              </a:rPr>
                            </m:ctrlPr>
                          </m:sSubPr>
                          <m:e>
                            <m:r>
                              <m:rPr>
                                <m:sty m:val="p"/>
                              </m:rPr>
                              <a:rPr lang="en-US" sz="1600" b="0" i="0" smtClean="0">
                                <a:latin typeface="Cambria Math" panose="02040503050406030204" pitchFamily="18" charset="0"/>
                                <a:cs typeface="Arial" panose="020B0604020202020204" pitchFamily="34" charset="0"/>
                              </a:rPr>
                              <m:t>IC</m:t>
                            </m:r>
                            <m:r>
                              <a:rPr lang="en-US" sz="1600" b="0" i="0" smtClean="0">
                                <a:latin typeface="Cambria Math" panose="02040503050406030204" pitchFamily="18" charset="0"/>
                                <a:cs typeface="Arial" panose="020B0604020202020204" pitchFamily="34" charset="0"/>
                              </a:rPr>
                              <m:t>50</m:t>
                            </m:r>
                          </m:e>
                          <m:sub>
                            <m:r>
                              <a:rPr lang="en-US" sz="1600" b="0" i="0" smtClean="0">
                                <a:latin typeface="Cambria Math" panose="02040503050406030204" pitchFamily="18" charset="0"/>
                                <a:cs typeface="Arial" panose="020B0604020202020204" pitchFamily="34" charset="0"/>
                              </a:rPr>
                              <m:t>02−</m:t>
                            </m:r>
                            <m:r>
                              <m:rPr>
                                <m:sty m:val="p"/>
                              </m:rPr>
                              <a:rPr lang="en-US" sz="1600" b="0" i="0" smtClean="0">
                                <a:latin typeface="Cambria Math" panose="02040503050406030204" pitchFamily="18" charset="0"/>
                                <a:cs typeface="Arial" panose="020B0604020202020204" pitchFamily="34" charset="0"/>
                              </a:rPr>
                              <m:t>d</m:t>
                            </m:r>
                            <m:r>
                              <a:rPr lang="en-US" sz="1600" b="0" i="0" smtClean="0">
                                <a:latin typeface="Cambria Math" panose="02040503050406030204" pitchFamily="18" charset="0"/>
                                <a:cs typeface="Arial" panose="020B0604020202020204" pitchFamily="34" charset="0"/>
                              </a:rPr>
                              <m:t>28 (</m:t>
                            </m:r>
                            <m:r>
                              <m:rPr>
                                <m:sty m:val="p"/>
                              </m:rPr>
                              <a:rPr lang="en-US" sz="1600" b="0" i="0" smtClean="0">
                                <a:latin typeface="Cambria Math" panose="02040503050406030204" pitchFamily="18" charset="0"/>
                                <a:cs typeface="Arial" panose="020B0604020202020204" pitchFamily="34" charset="0"/>
                              </a:rPr>
                              <m:t>batch</m:t>
                            </m:r>
                            <m:r>
                              <a:rPr lang="en-US" sz="1600" b="0" i="0" smtClean="0">
                                <a:latin typeface="Cambria Math" panose="02040503050406030204" pitchFamily="18" charset="0"/>
                                <a:cs typeface="Arial" panose="020B0604020202020204" pitchFamily="34" charset="0"/>
                              </a:rPr>
                              <m:t> </m:t>
                            </m:r>
                            <m:r>
                              <m:rPr>
                                <m:sty m:val="p"/>
                              </m:rPr>
                              <a:rPr lang="en-US" sz="1600" b="0" i="0" smtClean="0">
                                <a:latin typeface="Cambria Math" panose="02040503050406030204" pitchFamily="18" charset="0"/>
                                <a:cs typeface="Arial" panose="020B0604020202020204" pitchFamily="34" charset="0"/>
                              </a:rPr>
                              <m:t>y</m:t>
                            </m:r>
                            <m:r>
                              <a:rPr lang="en-US" sz="1600" b="0" i="0" smtClean="0">
                                <a:latin typeface="Cambria Math" panose="02040503050406030204" pitchFamily="18" charset="0"/>
                                <a:cs typeface="Arial" panose="020B0604020202020204" pitchFamily="34" charset="0"/>
                              </a:rPr>
                              <m:t>) </m:t>
                            </m:r>
                          </m:sub>
                        </m:sSub>
                      </m:den>
                    </m:f>
                  </m:oMath>
                </a14:m>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normalized plots are shown on the next two slides, and their similarity to the plots created from the raw data led us to favor the plots created from the raw data. </a:t>
                </a:r>
              </a:p>
              <a:p>
                <a:endParaRPr lang="en-US" sz="16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446CDC03-D16C-E4D1-BB0B-9F49BA6E51F8}"/>
                  </a:ext>
                </a:extLst>
              </p:cNvPr>
              <p:cNvSpPr>
                <a:spLocks noGrp="1" noRot="1" noChangeAspect="1" noMove="1" noResize="1" noEditPoints="1" noAdjustHandles="1" noChangeArrowheads="1" noChangeShapeType="1" noTextEdit="1"/>
              </p:cNvSpPr>
              <p:nvPr>
                <p:ph idx="1"/>
              </p:nvPr>
            </p:nvSpPr>
            <p:spPr>
              <a:xfrm>
                <a:off x="355980" y="718319"/>
                <a:ext cx="6956502" cy="4962284"/>
              </a:xfrm>
              <a:blipFill>
                <a:blip r:embed="rId2"/>
                <a:stretch>
                  <a:fillRect l="-364" r="-911" b="-15816"/>
                </a:stretch>
              </a:blipFill>
            </p:spPr>
            <p:txBody>
              <a:bodyPr/>
              <a:lstStyle/>
              <a:p>
                <a:r>
                  <a:rPr lang="en-US">
                    <a:noFill/>
                  </a:rPr>
                  <a:t> </a:t>
                </a:r>
              </a:p>
            </p:txBody>
          </p:sp>
        </mc:Fallback>
      </mc:AlternateContent>
      <p:pic>
        <p:nvPicPr>
          <p:cNvPr id="4" name="Graphic 3">
            <a:extLst>
              <a:ext uri="{FF2B5EF4-FFF2-40B4-BE49-F238E27FC236}">
                <a16:creationId xmlns:a16="http://schemas.microsoft.com/office/drawing/2014/main" id="{C4C51D2E-C0D5-0A41-FE50-5D3791B581EB}"/>
              </a:ext>
            </a:extLst>
          </p:cNvPr>
          <p:cNvPicPr>
            <a:picLocks noChangeAspect="1"/>
          </p:cNvPicPr>
          <p:nvPr/>
        </p:nvPicPr>
        <p:blipFill>
          <a:blip r:embed="rId3">
            <a:extLst>
              <a:ext uri="{96DAC541-7B7A-43D3-8B79-37D633B846F1}">
                <asvg:svgBlip xmlns:asvg="http://schemas.microsoft.com/office/drawing/2016/SVG/main" r:embed="rId4"/>
              </a:ext>
            </a:extLst>
          </a:blip>
          <a:srcRect t="11531"/>
          <a:stretch>
            <a:fillRect/>
          </a:stretch>
        </p:blipFill>
        <p:spPr>
          <a:xfrm>
            <a:off x="7988300" y="858982"/>
            <a:ext cx="4203700" cy="4078492"/>
          </a:xfrm>
          <a:prstGeom prst="rect">
            <a:avLst/>
          </a:prstGeom>
        </p:spPr>
      </p:pic>
      <p:sp>
        <p:nvSpPr>
          <p:cNvPr id="5" name="TextBox 4">
            <a:extLst>
              <a:ext uri="{FF2B5EF4-FFF2-40B4-BE49-F238E27FC236}">
                <a16:creationId xmlns:a16="http://schemas.microsoft.com/office/drawing/2014/main" id="{411965F2-8D26-CAA5-05F3-F238C73846EF}"/>
              </a:ext>
            </a:extLst>
          </p:cNvPr>
          <p:cNvSpPr txBox="1"/>
          <p:nvPr/>
        </p:nvSpPr>
        <p:spPr>
          <a:xfrm>
            <a:off x="8081323" y="4937474"/>
            <a:ext cx="4017653" cy="120032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3. Neutralization Titer (inverse of IC50; log scale) of batch control neutralization assays. Plasma for all three timepoints from participant 02 was run with each batch of assays as the batch control. NT50 values for the same batch control timepoint varied more than 10X between some batches. </a:t>
            </a:r>
          </a:p>
        </p:txBody>
      </p:sp>
      <p:cxnSp>
        <p:nvCxnSpPr>
          <p:cNvPr id="6" name="Straight Connector 5">
            <a:extLst>
              <a:ext uri="{FF2B5EF4-FFF2-40B4-BE49-F238E27FC236}">
                <a16:creationId xmlns:a16="http://schemas.microsoft.com/office/drawing/2014/main" id="{627E462D-25C4-28FE-E004-BE7434184A36}"/>
              </a:ext>
            </a:extLst>
          </p:cNvPr>
          <p:cNvCxnSpPr>
            <a:cxnSpLocks/>
          </p:cNvCxnSpPr>
          <p:nvPr/>
        </p:nvCxnSpPr>
        <p:spPr>
          <a:xfrm>
            <a:off x="7516968" y="807522"/>
            <a:ext cx="0" cy="5609782"/>
          </a:xfrm>
          <a:prstGeom prst="line">
            <a:avLst/>
          </a:prstGeom>
        </p:spPr>
        <p:style>
          <a:lnRef idx="2">
            <a:schemeClr val="dk1"/>
          </a:lnRef>
          <a:fillRef idx="0">
            <a:schemeClr val="dk1"/>
          </a:fillRef>
          <a:effectRef idx="1">
            <a:schemeClr val="dk1"/>
          </a:effectRef>
          <a:fontRef idx="minor">
            <a:schemeClr val="tx1"/>
          </a:fontRef>
        </p:style>
      </p:cxnSp>
      <p:pic>
        <p:nvPicPr>
          <p:cNvPr id="7" name="Graphic 6">
            <a:extLst>
              <a:ext uri="{FF2B5EF4-FFF2-40B4-BE49-F238E27FC236}">
                <a16:creationId xmlns:a16="http://schemas.microsoft.com/office/drawing/2014/main" id="{31FC7A16-6218-4BA0-D569-9898AAFD30D6}"/>
              </a:ext>
            </a:extLst>
          </p:cNvPr>
          <p:cNvPicPr>
            <a:picLocks noChangeAspect="1"/>
          </p:cNvPicPr>
          <p:nvPr/>
        </p:nvPicPr>
        <p:blipFill>
          <a:blip r:embed="rId3">
            <a:extLst>
              <a:ext uri="{96DAC541-7B7A-43D3-8B79-37D633B846F1}">
                <asvg:svgBlip xmlns:asvg="http://schemas.microsoft.com/office/drawing/2016/SVG/main" r:embed="rId4"/>
              </a:ext>
            </a:extLst>
          </a:blip>
          <a:srcRect t="645" r="23235" b="94826"/>
          <a:stretch>
            <a:fillRect/>
          </a:stretch>
        </p:blipFill>
        <p:spPr>
          <a:xfrm>
            <a:off x="8418945" y="509499"/>
            <a:ext cx="3226955" cy="208820"/>
          </a:xfrm>
          <a:prstGeom prst="rect">
            <a:avLst/>
          </a:prstGeom>
        </p:spPr>
      </p:pic>
    </p:spTree>
    <p:extLst>
      <p:ext uri="{BB962C8B-B14F-4D97-AF65-F5344CB8AC3E}">
        <p14:creationId xmlns:p14="http://schemas.microsoft.com/office/powerpoint/2010/main" val="3178491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3D8C203-997D-76AE-106B-0263029DB167}"/>
              </a:ext>
            </a:extLst>
          </p:cNvPr>
          <p:cNvSpPr txBox="1"/>
          <p:nvPr/>
        </p:nvSpPr>
        <p:spPr>
          <a:xfrm>
            <a:off x="6352478" y="4895507"/>
            <a:ext cx="5668537" cy="1569660"/>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4. Normalized Neutralization Titer (inverse of IC50; log scale) of each participant, faceted by cohort. All IC50 values from a given batch were normalized to that batch’s control (participant: 02, timepoint: d28) by dividing each IC50 value by the batch control IC50. Each participant’s data is color-coded by batch to illustrate each cohort’s distribution across batches. Median NT50 for each timepoint shown in black. Some individual participant NT50s shift relative to the non-normalized data, but the overall trends remain the same. </a:t>
            </a:r>
          </a:p>
        </p:txBody>
      </p:sp>
      <p:sp>
        <p:nvSpPr>
          <p:cNvPr id="11" name="TextBox 10">
            <a:extLst>
              <a:ext uri="{FF2B5EF4-FFF2-40B4-BE49-F238E27FC236}">
                <a16:creationId xmlns:a16="http://schemas.microsoft.com/office/drawing/2014/main" id="{D2DE537E-77EF-DE8F-7DCA-65CF122B540B}"/>
              </a:ext>
            </a:extLst>
          </p:cNvPr>
          <p:cNvSpPr txBox="1"/>
          <p:nvPr/>
        </p:nvSpPr>
        <p:spPr>
          <a:xfrm>
            <a:off x="6352478" y="1955466"/>
            <a:ext cx="5486398" cy="120032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1. Neutralization Titer (inverse of IC50; log scale) of each participant’s plasma samples across d28, d56, and d365, faceted by cohort. IC50s were generated through neutralization assays of Rabies G </a:t>
            </a:r>
            <a:r>
              <a:rPr lang="en-US" sz="1200" b="1" dirty="0" err="1">
                <a:latin typeface="Arial" panose="020B0604020202020204" pitchFamily="34" charset="0"/>
                <a:cs typeface="Arial" panose="020B0604020202020204" pitchFamily="34" charset="0"/>
              </a:rPr>
              <a:t>pseudovirus</a:t>
            </a:r>
            <a:r>
              <a:rPr lang="en-US" sz="1200" b="1" dirty="0">
                <a:latin typeface="Arial" panose="020B0604020202020204" pitchFamily="34" charset="0"/>
                <a:cs typeface="Arial" panose="020B0604020202020204" pitchFamily="34" charset="0"/>
              </a:rPr>
              <a:t> with plasma samples. Each participant’s data is color-coded by batch to illustrate each cohort’s distribution across batches. Median NT50 for each timepoint shown in black.  </a:t>
            </a:r>
          </a:p>
        </p:txBody>
      </p:sp>
      <p:sp>
        <p:nvSpPr>
          <p:cNvPr id="12" name="TextBox 11">
            <a:extLst>
              <a:ext uri="{FF2B5EF4-FFF2-40B4-BE49-F238E27FC236}">
                <a16:creationId xmlns:a16="http://schemas.microsoft.com/office/drawing/2014/main" id="{2CC51867-1B9B-3C39-5E00-A40BD1FF308A}"/>
              </a:ext>
            </a:extLst>
          </p:cNvPr>
          <p:cNvSpPr txBox="1"/>
          <p:nvPr/>
        </p:nvSpPr>
        <p:spPr>
          <a:xfrm>
            <a:off x="6705602" y="134240"/>
            <a:ext cx="4862621" cy="830997"/>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Normalized and non-normalized cohort-faceted plots compared </a:t>
            </a:r>
          </a:p>
        </p:txBody>
      </p:sp>
      <p:pic>
        <p:nvPicPr>
          <p:cNvPr id="4" name="Graphic 3">
            <a:extLst>
              <a:ext uri="{FF2B5EF4-FFF2-40B4-BE49-F238E27FC236}">
                <a16:creationId xmlns:a16="http://schemas.microsoft.com/office/drawing/2014/main" id="{09E1865A-A22A-1AD1-7AA9-5A24004A46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2712" y="281595"/>
            <a:ext cx="5922594" cy="2874200"/>
          </a:xfrm>
          <a:prstGeom prst="rect">
            <a:avLst/>
          </a:prstGeom>
        </p:spPr>
      </p:pic>
      <p:pic>
        <p:nvPicPr>
          <p:cNvPr id="7" name="Graphic 6">
            <a:extLst>
              <a:ext uri="{FF2B5EF4-FFF2-40B4-BE49-F238E27FC236}">
                <a16:creationId xmlns:a16="http://schemas.microsoft.com/office/drawing/2014/main" id="{C30E650F-1394-BCA0-E8D0-72999EB219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2712" y="3428999"/>
            <a:ext cx="5922594" cy="2933017"/>
          </a:xfrm>
          <a:prstGeom prst="rect">
            <a:avLst/>
          </a:prstGeom>
        </p:spPr>
      </p:pic>
    </p:spTree>
    <p:extLst>
      <p:ext uri="{BB962C8B-B14F-4D97-AF65-F5344CB8AC3E}">
        <p14:creationId xmlns:p14="http://schemas.microsoft.com/office/powerpoint/2010/main" val="3413563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204CFFC-81C5-789D-9811-3DA681638197}"/>
              </a:ext>
            </a:extLst>
          </p:cNvPr>
          <p:cNvSpPr txBox="1"/>
          <p:nvPr/>
        </p:nvSpPr>
        <p:spPr>
          <a:xfrm>
            <a:off x="6463791" y="4654220"/>
            <a:ext cx="5311897" cy="1754326"/>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5. Neutralization Titer (inverse of IC50; log scale) of each participant, faceted by timepoint. All IC50 values from a given batch were normalized to that batch’s control (participant: 02, timepoint: d28) by dividing each IC50 value by the batch control IC50. Each participant’s data is color-coded by batch to illustrate each cohort’s distribution across batches. The horizontal bar represents the median NT50 of each cohort for that timepoint. Although the overall median trends do vary slightly from the non-normalized batches, the differences are minimal. </a:t>
            </a:r>
          </a:p>
        </p:txBody>
      </p:sp>
      <p:sp>
        <p:nvSpPr>
          <p:cNvPr id="10" name="TextBox 9">
            <a:extLst>
              <a:ext uri="{FF2B5EF4-FFF2-40B4-BE49-F238E27FC236}">
                <a16:creationId xmlns:a16="http://schemas.microsoft.com/office/drawing/2014/main" id="{490021C8-8F3C-2B9E-192C-89B07AFC5C10}"/>
              </a:ext>
            </a:extLst>
          </p:cNvPr>
          <p:cNvSpPr txBox="1"/>
          <p:nvPr/>
        </p:nvSpPr>
        <p:spPr>
          <a:xfrm>
            <a:off x="6463791" y="1856320"/>
            <a:ext cx="5486398" cy="120032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2. Neutralization Titer (inverse of IC50; log scale) of each participant across Cohorts 1, 2, and 3, faceted by timepoint (d28, d56, d365). IC50s were generated through neutralization assays of Rabies G </a:t>
            </a:r>
            <a:r>
              <a:rPr lang="en-US" sz="1200" b="1" dirty="0" err="1">
                <a:latin typeface="Arial" panose="020B0604020202020204" pitchFamily="34" charset="0"/>
                <a:cs typeface="Arial" panose="020B0604020202020204" pitchFamily="34" charset="0"/>
              </a:rPr>
              <a:t>pseudovirus</a:t>
            </a:r>
            <a:r>
              <a:rPr lang="en-US" sz="1200" b="1" dirty="0">
                <a:latin typeface="Arial" panose="020B0604020202020204" pitchFamily="34" charset="0"/>
                <a:cs typeface="Arial" panose="020B0604020202020204" pitchFamily="34" charset="0"/>
              </a:rPr>
              <a:t> with plasma samples. Each participant’s data is color-coded by batch to illustrate each cohort’s distribution across batches. The horizontal bar represents the median NT50 of each cohort for that timepoint.  </a:t>
            </a:r>
          </a:p>
        </p:txBody>
      </p:sp>
      <p:sp>
        <p:nvSpPr>
          <p:cNvPr id="11" name="TextBox 10">
            <a:extLst>
              <a:ext uri="{FF2B5EF4-FFF2-40B4-BE49-F238E27FC236}">
                <a16:creationId xmlns:a16="http://schemas.microsoft.com/office/drawing/2014/main" id="{8497BA7D-D71B-0DEC-5A3E-9B66E9D8BA2D}"/>
              </a:ext>
            </a:extLst>
          </p:cNvPr>
          <p:cNvSpPr txBox="1"/>
          <p:nvPr/>
        </p:nvSpPr>
        <p:spPr>
          <a:xfrm>
            <a:off x="6824010" y="205180"/>
            <a:ext cx="5126180" cy="830997"/>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Normalized and non-normalized timepoint-faceted plots compared </a:t>
            </a:r>
          </a:p>
        </p:txBody>
      </p:sp>
      <p:pic>
        <p:nvPicPr>
          <p:cNvPr id="3" name="Graphic 2">
            <a:extLst>
              <a:ext uri="{FF2B5EF4-FFF2-40B4-BE49-F238E27FC236}">
                <a16:creationId xmlns:a16="http://schemas.microsoft.com/office/drawing/2014/main" id="{84B87835-F8FA-E286-5D8F-052A467442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1811" y="283641"/>
            <a:ext cx="5603497" cy="3145359"/>
          </a:xfrm>
          <a:prstGeom prst="rect">
            <a:avLst/>
          </a:prstGeom>
        </p:spPr>
      </p:pic>
      <p:pic>
        <p:nvPicPr>
          <p:cNvPr id="6" name="Graphic 5">
            <a:extLst>
              <a:ext uri="{FF2B5EF4-FFF2-40B4-BE49-F238E27FC236}">
                <a16:creationId xmlns:a16="http://schemas.microsoft.com/office/drawing/2014/main" id="{F54B50C3-0BE8-482A-4612-BDFB07656A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1811" y="3593540"/>
            <a:ext cx="5590277" cy="3213734"/>
          </a:xfrm>
          <a:prstGeom prst="rect">
            <a:avLst/>
          </a:prstGeom>
        </p:spPr>
      </p:pic>
    </p:spTree>
    <p:extLst>
      <p:ext uri="{BB962C8B-B14F-4D97-AF65-F5344CB8AC3E}">
        <p14:creationId xmlns:p14="http://schemas.microsoft.com/office/powerpoint/2010/main" val="4211478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BCE50AA-5A65-4A10-3917-708F66E2C4FA}"/>
              </a:ext>
            </a:extLst>
          </p:cNvPr>
          <p:cNvSpPr txBox="1"/>
          <p:nvPr/>
        </p:nvSpPr>
        <p:spPr>
          <a:xfrm>
            <a:off x="4747419" y="432304"/>
            <a:ext cx="3280162" cy="461665"/>
          </a:xfrm>
          <a:prstGeom prst="rect">
            <a:avLst/>
          </a:prstGeom>
          <a:noFill/>
          <a:ln>
            <a:solidFill>
              <a:schemeClr val="tx1"/>
            </a:solidFill>
          </a:ln>
        </p:spPr>
        <p:txBody>
          <a:bodyPr wrap="square" rtlCol="0">
            <a:spAutoFit/>
          </a:bodyPr>
          <a:lstStyle/>
          <a:p>
            <a:r>
              <a:rPr lang="en-US" sz="2400" b="1" dirty="0">
                <a:latin typeface="Arial" panose="020B0604020202020204" pitchFamily="34" charset="0"/>
                <a:cs typeface="Arial" panose="020B0604020202020204" pitchFamily="34" charset="0"/>
              </a:rPr>
              <a:t>Neutralization curves</a:t>
            </a:r>
          </a:p>
        </p:txBody>
      </p:sp>
      <p:grpSp>
        <p:nvGrpSpPr>
          <p:cNvPr id="18" name="Group 17">
            <a:extLst>
              <a:ext uri="{FF2B5EF4-FFF2-40B4-BE49-F238E27FC236}">
                <a16:creationId xmlns:a16="http://schemas.microsoft.com/office/drawing/2014/main" id="{C155EE2F-8B56-EEC1-E7DF-81F9C3F192A7}"/>
              </a:ext>
            </a:extLst>
          </p:cNvPr>
          <p:cNvGrpSpPr/>
          <p:nvPr/>
        </p:nvGrpSpPr>
        <p:grpSpPr>
          <a:xfrm>
            <a:off x="79833" y="1026941"/>
            <a:ext cx="6074252" cy="5747657"/>
            <a:chOff x="79833" y="1026941"/>
            <a:chExt cx="6074252" cy="5747657"/>
          </a:xfrm>
        </p:grpSpPr>
        <p:pic>
          <p:nvPicPr>
            <p:cNvPr id="12" name="Picture 11">
              <a:extLst>
                <a:ext uri="{FF2B5EF4-FFF2-40B4-BE49-F238E27FC236}">
                  <a16:creationId xmlns:a16="http://schemas.microsoft.com/office/drawing/2014/main" id="{9C0C6101-3662-4E2C-6554-872C0CD7CD04}"/>
                </a:ext>
              </a:extLst>
            </p:cNvPr>
            <p:cNvPicPr>
              <a:picLocks noChangeAspect="1"/>
            </p:cNvPicPr>
            <p:nvPr/>
          </p:nvPicPr>
          <p:blipFill>
            <a:blip r:embed="rId3"/>
            <a:srcRect l="2813" b="45686"/>
            <a:stretch>
              <a:fillRect/>
            </a:stretch>
          </p:blipFill>
          <p:spPr>
            <a:xfrm>
              <a:off x="250655" y="1026941"/>
              <a:ext cx="5903430" cy="5479199"/>
            </a:xfrm>
            <a:prstGeom prst="rect">
              <a:avLst/>
            </a:prstGeom>
          </p:spPr>
        </p:pic>
        <p:grpSp>
          <p:nvGrpSpPr>
            <p:cNvPr id="17" name="Group 16">
              <a:extLst>
                <a:ext uri="{FF2B5EF4-FFF2-40B4-BE49-F238E27FC236}">
                  <a16:creationId xmlns:a16="http://schemas.microsoft.com/office/drawing/2014/main" id="{09AB6D9F-1A8A-88FC-1F7D-F2777A31D7BA}"/>
                </a:ext>
              </a:extLst>
            </p:cNvPr>
            <p:cNvGrpSpPr/>
            <p:nvPr/>
          </p:nvGrpSpPr>
          <p:grpSpPr>
            <a:xfrm>
              <a:off x="79833" y="3185494"/>
              <a:ext cx="6060958" cy="3589104"/>
              <a:chOff x="79833" y="3185494"/>
              <a:chExt cx="6060958" cy="3589104"/>
            </a:xfrm>
          </p:grpSpPr>
          <p:pic>
            <p:nvPicPr>
              <p:cNvPr id="14" name="Picture 13">
                <a:extLst>
                  <a:ext uri="{FF2B5EF4-FFF2-40B4-BE49-F238E27FC236}">
                    <a16:creationId xmlns:a16="http://schemas.microsoft.com/office/drawing/2014/main" id="{9E4E18A8-C4C1-C78C-ABF6-EE67C5F8C57F}"/>
                  </a:ext>
                </a:extLst>
              </p:cNvPr>
              <p:cNvPicPr>
                <a:picLocks noChangeAspect="1"/>
              </p:cNvPicPr>
              <p:nvPr/>
            </p:nvPicPr>
            <p:blipFill>
              <a:blip r:embed="rId3"/>
              <a:srcRect l="6190" t="97324" r="24924"/>
              <a:stretch>
                <a:fillRect/>
              </a:stretch>
            </p:blipFill>
            <p:spPr>
              <a:xfrm>
                <a:off x="475343" y="6506140"/>
                <a:ext cx="4159250" cy="268458"/>
              </a:xfrm>
              <a:prstGeom prst="rect">
                <a:avLst/>
              </a:prstGeom>
            </p:spPr>
          </p:pic>
          <p:pic>
            <p:nvPicPr>
              <p:cNvPr id="15" name="Picture 14">
                <a:extLst>
                  <a:ext uri="{FF2B5EF4-FFF2-40B4-BE49-F238E27FC236}">
                    <a16:creationId xmlns:a16="http://schemas.microsoft.com/office/drawing/2014/main" id="{8E11B5E4-CA5A-F76E-8615-EF3F48AB5A1C}"/>
                  </a:ext>
                </a:extLst>
              </p:cNvPr>
              <p:cNvPicPr>
                <a:picLocks noChangeAspect="1"/>
              </p:cNvPicPr>
              <p:nvPr/>
            </p:nvPicPr>
            <p:blipFill>
              <a:blip r:embed="rId3"/>
              <a:srcRect l="6010" t="97292" r="70913" b="1261"/>
              <a:stretch>
                <a:fillRect/>
              </a:stretch>
            </p:blipFill>
            <p:spPr>
              <a:xfrm>
                <a:off x="4747419" y="6506140"/>
                <a:ext cx="1393372" cy="145143"/>
              </a:xfrm>
              <a:prstGeom prst="rect">
                <a:avLst/>
              </a:prstGeom>
            </p:spPr>
          </p:pic>
          <p:pic>
            <p:nvPicPr>
              <p:cNvPr id="16" name="Picture 15">
                <a:extLst>
                  <a:ext uri="{FF2B5EF4-FFF2-40B4-BE49-F238E27FC236}">
                    <a16:creationId xmlns:a16="http://schemas.microsoft.com/office/drawing/2014/main" id="{16F01D83-7016-B049-21BD-03CF52CB3D4F}"/>
                  </a:ext>
                </a:extLst>
              </p:cNvPr>
              <p:cNvPicPr>
                <a:picLocks noChangeAspect="1"/>
              </p:cNvPicPr>
              <p:nvPr/>
            </p:nvPicPr>
            <p:blipFill>
              <a:blip r:embed="rId3"/>
              <a:srcRect l="-18" t="42795" r="97206" b="45686"/>
              <a:stretch>
                <a:fillRect/>
              </a:stretch>
            </p:blipFill>
            <p:spPr>
              <a:xfrm>
                <a:off x="79833" y="3185494"/>
                <a:ext cx="170822" cy="1162092"/>
              </a:xfrm>
              <a:prstGeom prst="rect">
                <a:avLst/>
              </a:prstGeom>
            </p:spPr>
          </p:pic>
        </p:grpSp>
      </p:grpSp>
      <p:grpSp>
        <p:nvGrpSpPr>
          <p:cNvPr id="21" name="Group 20">
            <a:extLst>
              <a:ext uri="{FF2B5EF4-FFF2-40B4-BE49-F238E27FC236}">
                <a16:creationId xmlns:a16="http://schemas.microsoft.com/office/drawing/2014/main" id="{11B825AF-13D9-530B-52BF-C28B0AB68239}"/>
              </a:ext>
            </a:extLst>
          </p:cNvPr>
          <p:cNvGrpSpPr/>
          <p:nvPr/>
        </p:nvGrpSpPr>
        <p:grpSpPr>
          <a:xfrm>
            <a:off x="6140791" y="1026941"/>
            <a:ext cx="6037915" cy="4598490"/>
            <a:chOff x="6154085" y="1026941"/>
            <a:chExt cx="6037915" cy="4598490"/>
          </a:xfrm>
        </p:grpSpPr>
        <p:pic>
          <p:nvPicPr>
            <p:cNvPr id="13" name="Picture 12">
              <a:extLst>
                <a:ext uri="{FF2B5EF4-FFF2-40B4-BE49-F238E27FC236}">
                  <a16:creationId xmlns:a16="http://schemas.microsoft.com/office/drawing/2014/main" id="{C3CBE928-3438-E7B8-D458-8A976508E51B}"/>
                </a:ext>
              </a:extLst>
            </p:cNvPr>
            <p:cNvPicPr>
              <a:picLocks noChangeAspect="1"/>
            </p:cNvPicPr>
            <p:nvPr/>
          </p:nvPicPr>
          <p:blipFill>
            <a:blip r:embed="rId3"/>
            <a:srcRect t="54142"/>
            <a:stretch>
              <a:fillRect/>
            </a:stretch>
          </p:blipFill>
          <p:spPr>
            <a:xfrm>
              <a:off x="6154085" y="1026941"/>
              <a:ext cx="6037915" cy="4598490"/>
            </a:xfrm>
            <a:prstGeom prst="rect">
              <a:avLst/>
            </a:prstGeom>
          </p:spPr>
        </p:pic>
        <p:pic>
          <p:nvPicPr>
            <p:cNvPr id="19" name="Picture 18">
              <a:extLst>
                <a:ext uri="{FF2B5EF4-FFF2-40B4-BE49-F238E27FC236}">
                  <a16:creationId xmlns:a16="http://schemas.microsoft.com/office/drawing/2014/main" id="{D72A3973-6FEA-E686-D90A-E0DB29E71266}"/>
                </a:ext>
              </a:extLst>
            </p:cNvPr>
            <p:cNvPicPr>
              <a:picLocks noChangeAspect="1"/>
            </p:cNvPicPr>
            <p:nvPr/>
          </p:nvPicPr>
          <p:blipFill>
            <a:blip r:embed="rId3"/>
            <a:srcRect l="6010" t="97292" r="70913" b="1261"/>
            <a:stretch>
              <a:fillRect/>
            </a:stretch>
          </p:blipFill>
          <p:spPr>
            <a:xfrm>
              <a:off x="10798628" y="4275014"/>
              <a:ext cx="1393372" cy="145143"/>
            </a:xfrm>
            <a:prstGeom prst="rect">
              <a:avLst/>
            </a:prstGeom>
          </p:spPr>
        </p:pic>
        <p:pic>
          <p:nvPicPr>
            <p:cNvPr id="20" name="Picture 19">
              <a:extLst>
                <a:ext uri="{FF2B5EF4-FFF2-40B4-BE49-F238E27FC236}">
                  <a16:creationId xmlns:a16="http://schemas.microsoft.com/office/drawing/2014/main" id="{B289D247-118E-2BD7-77D6-F45BBF14DA56}"/>
                </a:ext>
              </a:extLst>
            </p:cNvPr>
            <p:cNvPicPr>
              <a:picLocks noChangeAspect="1"/>
            </p:cNvPicPr>
            <p:nvPr/>
          </p:nvPicPr>
          <p:blipFill>
            <a:blip r:embed="rId3"/>
            <a:srcRect l="-18" t="42795" r="97206" b="45686"/>
            <a:stretch>
              <a:fillRect/>
            </a:stretch>
          </p:blipFill>
          <p:spPr>
            <a:xfrm>
              <a:off x="6154085" y="2604448"/>
              <a:ext cx="170822" cy="1162092"/>
            </a:xfrm>
            <a:prstGeom prst="rect">
              <a:avLst/>
            </a:prstGeom>
          </p:spPr>
        </p:pic>
      </p:grpSp>
    </p:spTree>
    <p:extLst>
      <p:ext uri="{BB962C8B-B14F-4D97-AF65-F5344CB8AC3E}">
        <p14:creationId xmlns:p14="http://schemas.microsoft.com/office/powerpoint/2010/main" val="567503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644</TotalTime>
  <Words>1755</Words>
  <Application>Microsoft Macintosh PowerPoint</Application>
  <PresentationFormat>Widescreen</PresentationFormat>
  <Paragraphs>69</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Batch variation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Juviler, Gavin</dc:creator>
  <cp:lastModifiedBy>Juviler, Gavin</cp:lastModifiedBy>
  <cp:revision>8</cp:revision>
  <dcterms:created xsi:type="dcterms:W3CDTF">2026-02-19T23:37:17Z</dcterms:created>
  <dcterms:modified xsi:type="dcterms:W3CDTF">2026-02-26T18:51:22Z</dcterms:modified>
</cp:coreProperties>
</file>